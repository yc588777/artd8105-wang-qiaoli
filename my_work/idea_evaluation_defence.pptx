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 d="1"/>
          <a:sy n="1" d="1"/>
        </p:scale>
        <p:origin x="0" y="0"/>
      </p:cViewPr>
      <p:guideLst/>
    </p:cSldViewPr>
  </p:slide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presProps" Target="presProps.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bleStyles" Target="tableStyles.xml"/><Relationship Id="rId10" Type="http://schemas.openxmlformats.org/officeDocument/2006/relationships/viewProps" Target="viewProps.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10 seconds</a:t>
            </a:r>
          </a:p>
          <a:p>
            <a:r>
              <a:t>ENGLISH</a:t>
            </a:r>
          </a:p>
          <a:p>
            <a:r>
              <a:t>Good morning. I am Wang Wang. My project is Haitang Weave Lab, a browser-based parametric system for generating an integrated, 3D-printable handheld fan.</a:t>
            </a:r>
          </a:p>
          <a:p/>
          <a:p>
            <a:r>
              <a:t>中文</a:t>
            </a:r>
          </a:p>
          <a:p>
            <a:r>
              <a:t>大家好，我是王王。我的项目是“海棠经纬”，这是一个在浏览器中运行的参数化系统，用于生成整体成型、可3D打印的手持扇。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45 seconds</a:t>
            </a:r>
          </a:p>
          <a:p>
            <a:r>
              <a:t>ENGLISH</a:t>
            </a:r>
          </a:p>
          <a:p>
            <a:r>
              <a:t>Current parametric weave systems can produce attractive fields, but clipping them to a complex fan outline creates short fragments and floating ends. Parameter changes can also break over-under order or printable spacing. I therefore ask how a browser tool can generate a watertight fan in which every strip stays continuous, anchors to the frame and remains manufacturable.</a:t>
            </a:r>
          </a:p>
          <a:p/>
          <a:p>
            <a:r>
              <a:t>中文</a:t>
            </a:r>
          </a:p>
          <a:p>
            <a:r>
              <a:t>现有参数化编织系统可以生成丰富图案，但将图案裁切到复杂扇框时，常会产生短碎片和悬空端点。参数变化还可能破坏上下交织顺序与打印间隙。因此，我的问题是：浏览器工具如何生成封闭一体的扇子，并确保每根竹条连续、锚定于扇框且能够制造？</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45 seconds</a:t>
            </a:r>
          </a:p>
          <a:p>
            <a:r>
              <a:t>ENGLISH</a:t>
            </a:r>
          </a:p>
          <a:p>
            <a:r>
              <a:t>Three works define the gap. Ren and colleagues solve continuous curved-ribbon weaving through offline optimisation and external boundary fixing. Weavecraft makes 3D weave design interactive, but it does not generate a rigid frame-integrated printable product. Muslimin translates interweaving into parametric grammar, but discrete modules do not guarantee global strip continuity. The literature check led me to focus on one rotating-diamond method governed by boundary and manufacturing constraints.</a:t>
            </a:r>
          </a:p>
          <a:p/>
          <a:p>
            <a:r>
              <a:t>中文</a:t>
            </a:r>
          </a:p>
          <a:p>
            <a:r>
              <a:t>三项研究界定了本项目的缺口。Ren等人解决了连续曲面带编织，但依赖离线优化和外部边界固定。Weavecraft实现了交互式三维编织，却没有生成与刚性边框一体化的可打印产品。Muslimin将编织转化为参数语法，但离散模块无法保证竹条全局连续。文献核查促使我把项目收束为一种由边界与制造约束共同控制的旋转菱纹方法。</a:t>
            </a:r>
          </a:p>
          <a:p/>
          <a:p>
            <a:r>
              <a:t>Sources</a:t>
            </a:r>
          </a:p>
          <a:p>
            <a:r>
              <a:t>Ren et al. (2021), 3D Weaving with Curved Ribbons, DOI 10.1145/3450626.3459788</a:t>
            </a:r>
          </a:p>
          <a:p>
            <a:r>
              <a:t>Wu et al. (2020), Weavecraft, DOI 10.1145/3414685.3417865</a:t>
            </a:r>
          </a:p>
          <a:p>
            <a:r>
              <a:t>Muslimin (2010), Interweaving Grammar, DOI 10.1260/1478-0771.8.2.93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45 seconds</a:t>
            </a:r>
          </a:p>
          <a:p>
            <a:r>
              <a:t>ENGLISH</a:t>
            </a:r>
          </a:p>
          <a:p>
            <a:r>
              <a:t>My primary contribution is a method. It recalculates paths against a non-convex boundary instead of simply trimming a field. It records crossings and assigns alternating Z offsets without breaking strips. The interface checks width, thickness and clearance before exporting a watertight STL. Printing is necessary because it tests frame bonding and clearances. The fan domain matters because its irregular closed frame and handheld scale define the research constraint.</a:t>
            </a:r>
          </a:p>
          <a:p/>
          <a:p>
            <a:r>
              <a:t>中文</a:t>
            </a:r>
          </a:p>
          <a:p>
            <a:r>
              <a:t>本项目的主要贡献类型是方法。系统不再简单裁切图案，而是依据非凸边界重新计算路径；它记录交叉点并交替设置Z轴起伏，同时保持竹条完整。界面在导出封闭STL前检查宽度、厚度和间隙。实体制作能够验证扇框连接与打印间隙；扇子的非规则封闭边框和手持尺度则构成了具体研究约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45 seconds</a:t>
            </a:r>
          </a:p>
          <a:p>
            <a:r>
              <a:t>ENGLISH</a:t>
            </a:r>
          </a:p>
          <a:p>
            <a:r>
              <a:t>The primary venue is the DIS 2027 Pictorial track, with the abstract due on January eleventh and the full submission on January eighteenth, Anywhere on Earth. Its visual research format suits the system, process evidence and fabricated outcome. The backup is the International Journal of Architectural Computing. By November twenty-fifth I will produce one integrated fan, a watertight STL, resin or FDM prototypes and documented failure tests.</a:t>
            </a:r>
          </a:p>
          <a:p/>
          <a:p>
            <a:r>
              <a:t>中文</a:t>
            </a:r>
          </a:p>
          <a:p>
            <a:r>
              <a:t>首选投稿场所是DIS 2027 Pictorial，摘要截止日期为1月11日，全文截止日期为1月18日，均按AoE计算。其视觉研究形式适合呈现系统、过程证据与制作成果。备选为International Journal of Architectural Computing。11月25日前，我将完成一把整体成型的扇子、封闭STL、树脂或FDM原型，以及失败测试记录。</a:t>
            </a:r>
          </a:p>
          <a:p/>
          <a:p>
            <a:r>
              <a:t>Sources</a:t>
            </a:r>
          </a:p>
          <a:p>
            <a:r>
              <a:t>https://dis.acm.org/2027/pictorials/</a:t>
            </a:r>
          </a:p>
          <a:p>
            <a:r>
              <a:t>https://dis.acm.org/2027/call-for-papers/</a:t>
            </a:r>
          </a:p>
          <a:p>
            <a:r>
              <a:t>https://journals.sagepub.com/author-instructions/jac</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CE_TITLE">
    <p:bg>
      <p:bgPr>
        <a:solidFill>
          <a:schemeClr val="tx1"/>
        </a:solidFill>
        <a:effectLst/>
      </p:bgPr>
    </p:bg>
    <p:spTree>
      <p:nvGrpSpPr>
        <p:cNvPr id="1" name=""/>
        <p:cNvGrpSpPr/>
        <p:nvPr/>
      </p:nvGrpSpPr>
      <p:grpSpPr/>
      <p:sp>
        <p:nvSpPr>
          <p:cNvPr id="2" name="Text 0"/>
          <p:cNvSpPr>
            <a:spLocks noGrp="1"/>
          </p:cNvSpPr>
          <p:nvPr/>
        </p:nvSpPr>
        <p:spPr>
          <a:xfrm>
            <a:off x="731520" y="640080"/>
            <a:ext cx="8229600" cy="365760"/>
          </a:xfrm>
          <a:prstGeom prst="rect">
            <a:avLst/>
          </a:prstGeom>
          <a:noFill/>
        </p:spPr>
        <p:txBody>
          <a:bodyPr wrap="square" lIns="0" tIns="0" rIns="0" bIns="0" anchor="ctr"/>
          <a:lstStyle/>
          <a:p>
            <a:pPr marL="0" indent="0">
              <a:buNone/>
            </a:pPr>
            <a:r>
              <a:rPr sz="1600" b="1">
                <a:solidFill>
                  <a:schemeClr val="accent1"/>
                </a:solidFill>
              </a:rPr>
              <a:t>3 minutes · 5 slides · then 2 minutes of questions</a:t>
            </a:r>
            <a:endParaRPr sz="1600"/>
          </a:p>
        </p:txBody>
      </p:sp>
      <p:sp>
        <p:nvSpPr>
          <p:cNvPr id="3" name="Text 1"/>
          <p:cNvSpPr>
            <a:spLocks noGrp="1"/>
          </p:cNvSpPr>
          <p:nvPr>
            <p:ph type="title" idx="101" hasCustomPrompt="1"/>
          </p:nvPr>
        </p:nvSpPr>
        <p:spPr>
          <a:xfrm>
            <a:off x="731520" y="2011680"/>
            <a:ext cx="10698480" cy="1463040"/>
          </a:xfrm>
          <a:prstGeom prst="rect">
            <a:avLst/>
          </a:prstGeom>
          <a:noFill/>
        </p:spPr>
        <p:txBody>
          <a:bodyPr wrap="square"/>
          <a:lstStyle>
            <a:lvl1pPr marL="0" indent="0" algn="l">
              <a:buNone/>
              <a:defRPr sz="4400" b="1">
                <a:solidFill>
                  <a:schemeClr val="bg1"/>
                </a:solidFill>
              </a:defRPr>
            </a:lvl1pPr>
          </a:lstStyle>
          <a:p>
            <a:pPr marL="0" indent="0" algn="l">
              <a:buNone/>
            </a:pPr>
            <a:endParaRPr sz="4400"/>
          </a:p>
        </p:txBody>
      </p:sp>
      <p:sp>
        <p:nvSpPr>
          <p:cNvPr id="4" name="Text 1"/>
          <p:cNvSpPr>
            <a:spLocks noGrp="1"/>
          </p:cNvSpPr>
          <p:nvPr>
            <p:ph type="body" idx="102" hasCustomPrompt="1"/>
          </p:nvPr>
        </p:nvSpPr>
        <p:spPr>
          <a:xfrm>
            <a:off x="731520" y="3703320"/>
            <a:ext cx="10698480" cy="1737360"/>
          </a:xfrm>
          <a:prstGeom prst="rect">
            <a:avLst/>
          </a:prstGeom>
          <a:noFill/>
        </p:spPr>
        <p:txBody>
          <a:bodyPr wrap="square"/>
          <a:lstStyle>
            <a:lvl1pPr marL="0" indent="0" algn="l">
              <a:buNone/>
              <a:defRPr sz="2200">
                <a:solidFill>
                  <a:schemeClr val="accent4"/>
                </a:solidFill>
              </a:defRPr>
            </a:lvl1pPr>
          </a:lstStyle>
          <a:p>
            <a:pPr marL="0" indent="0" algn="l">
              <a:buNone/>
            </a:pPr>
            <a:endParaRPr sz="2200"/>
          </a:p>
        </p:txBody>
      </p:sp>
      <p:sp>
        <p:nvSpPr>
          <p:cNvPr id="5" name="Text 1"/>
          <p:cNvSpPr>
            <a:spLocks noGrp="1"/>
          </p:cNvSpPr>
          <p:nvPr/>
        </p:nvSpPr>
        <p:spPr>
          <a:xfrm>
            <a:off x="731520" y="6126480"/>
            <a:ext cx="7315200" cy="320040"/>
          </a:xfrm>
          <a:prstGeom prst="rect">
            <a:avLst/>
          </a:prstGeom>
          <a:noFill/>
        </p:spPr>
        <p:txBody>
          <a:bodyPr wrap="square" lIns="0" tIns="0" rIns="0" bIns="0" anchor="ctr"/>
          <a:lstStyle/>
          <a:p>
            <a:pPr marL="0" indent="0">
              <a:buNone/>
            </a:pPr>
            <a:r>
              <a:rPr sz="1400">
                <a:solidFill>
                  <a:schemeClr val="accent3"/>
                </a:solidFill>
              </a:rPr>
              <a:t>ARTD8105 · Session 8 · 14 October 2026</a:t>
            </a:r>
            <a:endParaRPr sz="14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ENCE_CONTENT">
    <p:bg>
      <p:bgPr>
        <a:solidFill>
          <a:schemeClr val="bg1"/>
        </a:solidFill>
        <a:effectLst/>
      </p:bgPr>
    </p:bg>
    <p:spTree>
      <p:nvGrpSpPr>
        <p:cNvPr id="1" name=""/>
        <p:cNvGrpSpPr/>
        <p:nvPr/>
      </p:nvGrpSpPr>
      <p:grpSpPr/>
      <p:sp>
        <p:nvSpPr>
          <p:cNvPr id="2" name="Text 0"/>
          <p:cNvSpPr>
            <a:spLocks noGrp="1"/>
          </p:cNvSpPr>
          <p:nvPr>
            <p:ph type="title" idx="100" hasCustomPrompt="1"/>
          </p:nvPr>
        </p:nvSpPr>
        <p:spPr>
          <a:xfrm>
            <a:off x="548640" y="320040"/>
            <a:ext cx="8778240" cy="777240"/>
          </a:xfrm>
          <a:prstGeom prst="rect">
            <a:avLst/>
          </a:prstGeom>
          <a:noFill/>
        </p:spPr>
        <p:txBody>
          <a:bodyPr wrap="square"/>
          <a:lstStyle>
            <a:lvl1pPr marL="0" indent="0" algn="l">
              <a:buNone/>
              <a:defRPr sz="3200" b="1">
                <a:solidFill>
                  <a:schemeClr val="tx1"/>
                </a:solidFill>
              </a:defRPr>
            </a:lvl1pPr>
          </a:lstStyle>
          <a:p>
            <a:pPr marL="0" indent="0" algn="l">
              <a:buNone/>
            </a:pPr>
            <a:endParaRPr sz="3200"/>
          </a:p>
        </p:txBody>
      </p:sp>
      <p:sp>
        <p:nvSpPr>
          <p:cNvPr id="3" name="Shape 0"/>
          <p:cNvSpPr>
            <a:spLocks noGrp="1"/>
          </p:cNvSpPr>
          <p:nvPr/>
        </p:nvSpPr>
        <p:spPr>
          <a:xfrm>
            <a:off x="9646920" y="438912"/>
            <a:ext cx="1965960" cy="530352"/>
          </a:xfrm>
          <a:prstGeom prst="rect">
            <a:avLst/>
          </a:prstGeom>
          <a:solidFill>
            <a:schemeClr val="bg2"/>
          </a:solidFill>
        </p:spPr>
      </p:sp>
      <p:sp>
        <p:nvSpPr>
          <p:cNvPr id="4" name="Text 1"/>
          <p:cNvSpPr>
            <a:spLocks noGrp="1"/>
          </p:cNvSpPr>
          <p:nvPr/>
        </p:nvSpPr>
        <p:spPr>
          <a:xfrm>
            <a:off x="9646920" y="438912"/>
            <a:ext cx="1965960" cy="530352"/>
          </a:xfrm>
          <a:prstGeom prst="rect">
            <a:avLst/>
          </a:prstGeom>
          <a:noFill/>
        </p:spPr>
        <p:txBody>
          <a:bodyPr wrap="square" lIns="0" tIns="0" rIns="0" bIns="0" anchor="ctr"/>
          <a:lstStyle/>
          <a:p>
            <a:pPr marL="0" indent="0" algn="ctr">
              <a:buNone/>
            </a:pPr>
            <a:r>
              <a:rPr sz="1400" b="1">
                <a:solidFill>
                  <a:schemeClr val="accent1"/>
                </a:solidFill>
              </a:rPr>
              <a:t>about 45 seconds</a:t>
            </a:r>
            <a:endParaRPr sz="1400"/>
          </a:p>
        </p:txBody>
      </p:sp>
      <p:sp>
        <p:nvSpPr>
          <p:cNvPr id="5" name="Text 2"/>
          <p:cNvSpPr>
            <a:spLocks noGrp="1"/>
          </p:cNvSpPr>
          <p:nvPr>
            <p:ph type="body" idx="103" hasCustomPrompt="1"/>
          </p:nvPr>
        </p:nvSpPr>
        <p:spPr>
          <a:xfrm>
            <a:off x="548640" y="1371600"/>
            <a:ext cx="6766560" cy="4663440"/>
          </a:xfrm>
          <a:prstGeom prst="rect">
            <a:avLst/>
          </a:prstGeom>
          <a:noFill/>
        </p:spPr>
        <p:txBody>
          <a:bodyPr wrap="square"/>
          <a:lstStyle>
            <a:lvl1pPr marL="0" indent="0" algn="l">
              <a:buNone/>
              <a:defRPr sz="2200">
                <a:solidFill>
                  <a:schemeClr val="tx1"/>
                </a:solidFill>
              </a:defRPr>
            </a:lvl1pPr>
          </a:lstStyle>
          <a:p>
            <a:pPr marL="0" indent="0" algn="l">
              <a:buNone/>
            </a:pPr>
            <a:endParaRPr sz="2200"/>
          </a:p>
        </p:txBody>
      </p:sp>
      <p:sp>
        <p:nvSpPr>
          <p:cNvPr id="6" name="Shape 2"/>
          <p:cNvSpPr>
            <a:spLocks noGrp="1"/>
          </p:cNvSpPr>
          <p:nvPr/>
        </p:nvSpPr>
        <p:spPr>
          <a:xfrm>
            <a:off x="7635240" y="1371600"/>
            <a:ext cx="3977640" cy="4663440"/>
          </a:xfrm>
          <a:prstGeom prst="rect">
            <a:avLst/>
          </a:prstGeom>
          <a:solidFill>
            <a:schemeClr val="bg2"/>
          </a:solidFill>
        </p:spPr>
      </p:sp>
      <p:sp>
        <p:nvSpPr>
          <p:cNvPr id="7" name="Text 3"/>
          <p:cNvSpPr>
            <a:spLocks noGrp="1"/>
          </p:cNvSpPr>
          <p:nvPr>
            <p:ph type="body" idx="105" hasCustomPrompt="1"/>
          </p:nvPr>
        </p:nvSpPr>
        <p:spPr>
          <a:xfrm>
            <a:off x="7863840" y="2011680"/>
            <a:ext cx="3520440" cy="3840480"/>
          </a:xfrm>
          <a:prstGeom prst="rect">
            <a:avLst/>
          </a:prstGeom>
          <a:noFill/>
        </p:spPr>
        <p:txBody>
          <a:bodyPr wrap="square"/>
          <a:lstStyle>
            <a:lvl1pPr marL="0" indent="0" algn="l">
              <a:buNone/>
              <a:defRPr sz="1800">
                <a:solidFill>
                  <a:schemeClr val="tx1"/>
                </a:solidFill>
              </a:defRPr>
            </a:lvl1pPr>
          </a:lstStyle>
          <a:p>
            <a:pPr marL="0" indent="0" algn="l">
              <a:buNone/>
            </a:pPr>
            <a:endParaRPr sz="1800"/>
          </a:p>
        </p:txBody>
      </p:sp>
      <p:sp>
        <p:nvSpPr>
          <p:cNvPr id="8" name="Text 3"/>
          <p:cNvSpPr>
            <a:spLocks noGrp="1"/>
          </p:cNvSpPr>
          <p:nvPr/>
        </p:nvSpPr>
        <p:spPr>
          <a:xfrm>
            <a:off x="548640" y="6400800"/>
            <a:ext cx="8229600" cy="274320"/>
          </a:xfrm>
          <a:prstGeom prst="rect">
            <a:avLst/>
          </a:prstGeom>
          <a:noFill/>
        </p:spPr>
        <p:txBody>
          <a:bodyPr wrap="square" lIns="0" tIns="0" rIns="0" bIns="0" anchor="ctr"/>
          <a:lstStyle/>
          <a:p>
            <a:pPr marL="0" indent="0">
              <a:buNone/>
            </a:pPr>
            <a:r>
              <a:rPr sz="1000">
                <a:solidFill>
                  <a:schemeClr val="tx2"/>
                </a:solidFill>
              </a:rPr>
              <a:t>ARTD8105 · Idea evaluation defence · 3 minutes, then 2 minutes of questions</a:t>
            </a:r>
            <a:endParaRPr sz="1000"/>
          </a:p>
        </p:txBody>
      </p:sp>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panose="020B0604020202020204"/>
        <a:buChar char="•"/>
        <a:defRPr sz="3200" kern="1200">
          <a:solidFill>
            <a:schemeClr val="tx1"/>
          </a:solidFill>
          <a:latin typeface="+mn-lt"/>
          <a:ea typeface="+mn-lt"/>
          <a:cs typeface="+mn-lt"/>
        </a:defRPr>
      </a:lvl1pPr>
      <a:lvl2pPr marL="742950" indent="-285750" algn="l" defTabSz="914400">
        <a:spcBef>
          <a:spcPct val="20000"/>
        </a:spcBef>
        <a:buFont typeface="Arial" panose="020B0604020202020204"/>
        <a:buChar char="–"/>
        <a:defRPr sz="2800" kern="1200">
          <a:solidFill>
            <a:schemeClr val="tx1"/>
          </a:solidFill>
          <a:latin typeface="+mn-lt"/>
          <a:ea typeface="+mn-lt"/>
          <a:cs typeface="+mn-lt"/>
        </a:defRPr>
      </a:lvl2pPr>
      <a:lvl3pPr marL="1143000" indent="-228600" algn="l" defTabSz="914400">
        <a:spcBef>
          <a:spcPct val="20000"/>
        </a:spcBef>
        <a:buFont typeface="Arial" panose="020B0604020202020204"/>
        <a:buChar char="•"/>
        <a:defRPr sz="2400" kern="1200">
          <a:solidFill>
            <a:schemeClr val="tx1"/>
          </a:solidFill>
          <a:latin typeface="+mn-lt"/>
          <a:ea typeface="+mn-lt"/>
          <a:cs typeface="+mn-lt"/>
        </a:defRPr>
      </a:lvl3pPr>
      <a:lvl4pPr marL="1600200" indent="-228600" algn="l" defTabSz="914400">
        <a:spcBef>
          <a:spcPct val="20000"/>
        </a:spcBef>
        <a:buFont typeface="Arial" panose="020B0604020202020204"/>
        <a:buChar char="–"/>
        <a:defRPr sz="2000" kern="1200">
          <a:solidFill>
            <a:schemeClr val="tx1"/>
          </a:solidFill>
          <a:latin typeface="+mn-lt"/>
          <a:ea typeface="+mn-lt"/>
          <a:cs typeface="+mn-lt"/>
        </a:defRPr>
      </a:lvl4pPr>
      <a:lvl5pPr marL="2057400" indent="-228600" algn="l" defTabSz="914400">
        <a:spcBef>
          <a:spcPct val="20000"/>
        </a:spcBef>
        <a:buFont typeface="Arial" panose="020B0604020202020204"/>
        <a:buChar char="»"/>
        <a:defRPr sz="2000" kern="1200">
          <a:solidFill>
            <a:schemeClr val="tx1"/>
          </a:solidFill>
          <a:latin typeface="+mn-lt"/>
          <a:ea typeface="+mn-lt"/>
          <a:cs typeface="+mn-lt"/>
        </a:defRPr>
      </a:lvl5pPr>
      <a:lvl6pPr marL="2514600" indent="-228600" algn="l" defTabSz="914400">
        <a:spcBef>
          <a:spcPct val="20000"/>
        </a:spcBef>
        <a:buFont typeface="Arial" panose="020B0604020202020204"/>
        <a:buChar char="•"/>
        <a:defRPr sz="2000" kern="1200">
          <a:solidFill>
            <a:schemeClr val="tx1"/>
          </a:solidFill>
          <a:latin typeface="+mn-lt"/>
          <a:ea typeface="+mn-lt"/>
          <a:cs typeface="+mn-lt"/>
        </a:defRPr>
      </a:lvl6pPr>
      <a:lvl7pPr marL="2971800" indent="-228600" algn="l" defTabSz="914400">
        <a:spcBef>
          <a:spcPct val="20000"/>
        </a:spcBef>
        <a:buFont typeface="Arial" panose="020B0604020202020204"/>
        <a:buChar char="•"/>
        <a:defRPr sz="2000" kern="1200">
          <a:solidFill>
            <a:schemeClr val="tx1"/>
          </a:solidFill>
          <a:latin typeface="+mn-lt"/>
          <a:ea typeface="+mn-lt"/>
          <a:cs typeface="+mn-lt"/>
        </a:defRPr>
      </a:lvl7pPr>
      <a:lvl8pPr marL="3429000" indent="-228600" algn="l" defTabSz="914400">
        <a:spcBef>
          <a:spcPct val="20000"/>
        </a:spcBef>
        <a:buFont typeface="Arial" panose="020B0604020202020204"/>
        <a:buChar char="•"/>
        <a:defRPr sz="2000" kern="1200">
          <a:solidFill>
            <a:schemeClr val="tx1"/>
          </a:solidFill>
          <a:latin typeface="+mn-lt"/>
          <a:ea typeface="+mn-lt"/>
          <a:cs typeface="+mn-lt"/>
        </a:defRPr>
      </a:lvl8pPr>
      <a:lvl9pPr marL="3886200" indent="-228600" algn="l" defTabSz="914400">
        <a:spcBef>
          <a:spcPct val="20000"/>
        </a:spcBef>
        <a:buFont typeface="Arial" panose="020B0604020202020204"/>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1"/>
          <p:cNvSpPr>
            <a:spLocks noGrp="1"/>
          </p:cNvSpPr>
          <p:nvPr>
            <p:ph type="title" idx="101" hasCustomPrompt="1"/>
          </p:nvPr>
        </p:nvSpPr>
        <p:spPr>
          <a:xfrm>
            <a:off x="731520" y="2011680"/>
            <a:ext cx="10698480" cy="1463040"/>
          </a:xfrm>
          <a:prstGeom prst="rect">
            <a:avLst/>
          </a:prstGeom>
          <a:noFill/>
        </p:spPr>
        <p:txBody>
          <a:bodyPr lIns="0" tIns="0" rIns="0" bIns="0" anchor="b">
            <a:normAutofit/>
          </a:bodyPr>
          <a:lstStyle>
            <a:defPPr>
              <a:defRPr sz="4405" b="1"/>
            </a:defPPr>
          </a:lstStyle>
          <a:p>
            <a:pPr>
              <a:spcBef>
                <a:spcPts val="0"/>
              </a:spcBef>
              <a:spcAft>
                <a:spcPts val="5"/>
              </a:spcAft>
              <a:defRPr sz="4405" b="1"/>
            </a:pPr>
            <a:r>
              <a:rPr sz="3825" b="1">
                <a:solidFill>
                  <a:srgbClr val="F8FAFC"/>
                </a:solidFill>
                <a:latin typeface="Cambria" panose="02040503050406030204"/>
                <a:ea typeface="Cambria" panose="02040503050406030204"/>
                <a:cs typeface="Cambria" panose="02040503050406030204"/>
              </a:rPr>
              <a:t>HAITANG WEAVE LAB</a:t>
            </a:r>
            <a:endParaRPr sz="3825" b="1">
              <a:solidFill>
                <a:srgbClr val="F8FAFC"/>
              </a:solidFill>
              <a:latin typeface="Cambria" panose="02040503050406030204"/>
              <a:ea typeface="Cambria" panose="02040503050406030204"/>
              <a:cs typeface="Cambria" panose="02040503050406030204"/>
            </a:endParaRPr>
          </a:p>
          <a:p>
            <a:pPr>
              <a:spcBef>
                <a:spcPts val="0"/>
              </a:spcBef>
              <a:spcAft>
                <a:spcPts val="0"/>
              </a:spcAft>
              <a:defRPr sz="4405" b="1"/>
            </a:pPr>
            <a:r>
              <a:rPr sz="2325" b="1">
                <a:solidFill>
                  <a:srgbClr val="F8FAFC"/>
                </a:solidFill>
                <a:latin typeface="微软雅黑" panose="020B0503020204020204" charset="-122"/>
                <a:ea typeface="微软雅黑" panose="020B0503020204020204" charset="-122"/>
                <a:cs typeface="微软雅黑" panose="020B0503020204020204" charset="-122"/>
              </a:rPr>
              <a:t>海棠经纬</a:t>
            </a:r>
            <a:endParaRPr sz="2325" b="1">
              <a:solidFill>
                <a:srgbClr val="F8FAFC"/>
              </a:solidFill>
              <a:latin typeface="微软雅黑" panose="020B0503020204020204" charset="-122"/>
              <a:ea typeface="微软雅黑" panose="020B0503020204020204" charset="-122"/>
              <a:cs typeface="微软雅黑" panose="020B0503020204020204" charset="-122"/>
            </a:endParaRPr>
          </a:p>
        </p:txBody>
      </p:sp>
      <p:sp>
        <p:nvSpPr>
          <p:cNvPr id="3" name="Text 1"/>
          <p:cNvSpPr>
            <a:spLocks noGrp="1"/>
          </p:cNvSpPr>
          <p:nvPr>
            <p:ph type="body" idx="102" hasCustomPrompt="1"/>
          </p:nvPr>
        </p:nvSpPr>
        <p:spPr>
          <a:xfrm>
            <a:off x="731520" y="3703320"/>
            <a:ext cx="10698480" cy="1737360"/>
          </a:xfrm>
          <a:prstGeom prst="rect">
            <a:avLst/>
          </a:prstGeom>
          <a:noFill/>
        </p:spPr>
        <p:txBody>
          <a:bodyPr lIns="0" tIns="0" rIns="0" bIns="0" anchor="t">
            <a:normAutofit/>
          </a:bodyPr>
          <a:lstStyle>
            <a:defPPr>
              <a:defRPr sz="2025"/>
            </a:defPPr>
          </a:lstStyle>
          <a:p>
            <a:pPr>
              <a:spcBef>
                <a:spcPts val="0"/>
              </a:spcBef>
              <a:spcAft>
                <a:spcPts val="5"/>
              </a:spcAft>
              <a:defRPr sz="2025"/>
            </a:pPr>
            <a:r>
              <a:rPr sz="1875" b="0">
                <a:solidFill>
                  <a:srgbClr val="F8FAFC"/>
                </a:solidFill>
                <a:latin typeface="Calibri" panose="020F0502020204030204"/>
                <a:ea typeface="Calibri" panose="020F0502020204030204"/>
                <a:cs typeface="Calibri" panose="020F0502020204030204"/>
              </a:rPr>
              <a:t>Parametric weaving for a printable handheld fan</a:t>
            </a:r>
            <a:endParaRPr sz="1875" b="0">
              <a:solidFill>
                <a:srgbClr val="F8FAFC"/>
              </a:solidFill>
              <a:latin typeface="Calibri" panose="020F0502020204030204"/>
              <a:ea typeface="Calibri" panose="020F0502020204030204"/>
              <a:cs typeface="Calibri" panose="020F0502020204030204"/>
            </a:endParaRPr>
          </a:p>
          <a:p>
            <a:pPr>
              <a:spcBef>
                <a:spcPts val="0"/>
              </a:spcBef>
              <a:spcAft>
                <a:spcPts val="10"/>
              </a:spcAft>
              <a:defRPr sz="2025"/>
            </a:pPr>
            <a:r>
              <a:rPr sz="1500" b="0">
                <a:solidFill>
                  <a:srgbClr val="A6B2C7"/>
                </a:solidFill>
                <a:latin typeface="微软雅黑" panose="020B0503020204020204" charset="-122"/>
                <a:ea typeface="微软雅黑" panose="020B0503020204020204" charset="-122"/>
                <a:cs typeface="微软雅黑" panose="020B0503020204020204" charset="-122"/>
              </a:rPr>
              <a:t>面向可打印手持扇的参数化编织系统</a:t>
            </a:r>
            <a:endParaRPr sz="1500" b="0">
              <a:solidFill>
                <a:srgbClr val="A6B2C7"/>
              </a:solidFill>
              <a:latin typeface="微软雅黑" panose="020B0503020204020204" charset="-122"/>
              <a:ea typeface="微软雅黑" panose="020B0503020204020204" charset="-122"/>
              <a:cs typeface="微软雅黑" panose="020B0503020204020204" charset="-122"/>
            </a:endParaRPr>
          </a:p>
          <a:p>
            <a:pPr>
              <a:spcBef>
                <a:spcPts val="0"/>
              </a:spcBef>
              <a:spcAft>
                <a:spcPts val="0"/>
              </a:spcAft>
              <a:defRPr sz="2025"/>
            </a:pPr>
            <a:r>
              <a:rPr sz="1275" b="0">
                <a:solidFill>
                  <a:srgbClr val="A6B2C7"/>
                </a:solidFill>
                <a:latin typeface="Calibri" panose="020F0502020204030204"/>
                <a:ea typeface="Calibri" panose="020F0502020204030204"/>
                <a:cs typeface="Calibri" panose="020F0502020204030204"/>
              </a:rPr>
              <a:t>Wang </a:t>
            </a:r>
            <a:r>
              <a:rPr lang="en-US" sz="1275" b="0">
                <a:solidFill>
                  <a:srgbClr val="A6B2C7"/>
                </a:solidFill>
                <a:latin typeface="Calibri" panose="020F0502020204030204"/>
                <a:ea typeface="Calibri" panose="020F0502020204030204"/>
                <a:cs typeface="Calibri" panose="020F0502020204030204"/>
              </a:rPr>
              <a:t>Qiaoli</a:t>
            </a:r>
            <a:r>
              <a:rPr sz="1275" b="0">
                <a:solidFill>
                  <a:srgbClr val="A6B2C7"/>
                </a:solidFill>
                <a:latin typeface="Calibri" panose="020F0502020204030204"/>
                <a:ea typeface="Calibri" panose="020F0502020204030204"/>
                <a:cs typeface="Calibri" panose="020F0502020204030204"/>
              </a:rPr>
              <a:t> · Individual project</a:t>
            </a:r>
            <a:r>
              <a:rPr sz="1200" b="0">
                <a:solidFill>
                  <a:srgbClr val="A6B2C7"/>
                </a:solidFill>
                <a:latin typeface="微软雅黑" panose="020B0503020204020204" charset="-122"/>
                <a:ea typeface="微软雅黑" panose="020B0503020204020204" charset="-122"/>
                <a:cs typeface="微软雅黑" panose="020B0503020204020204" charset="-122"/>
              </a:rPr>
              <a:t> / </a:t>
            </a:r>
            <a:r>
              <a:rPr lang="zh-CN" sz="1200" b="0">
                <a:solidFill>
                  <a:srgbClr val="A6B2C7"/>
                </a:solidFill>
                <a:latin typeface="微软雅黑" panose="020B0503020204020204" charset="-122"/>
                <a:ea typeface="微软雅黑" panose="020B0503020204020204" charset="-122"/>
                <a:cs typeface="微软雅黑" panose="020B0503020204020204" charset="-122"/>
              </a:rPr>
              <a:t>汪俏黎</a:t>
            </a:r>
            <a:r>
              <a:rPr sz="1200" b="0">
                <a:solidFill>
                  <a:srgbClr val="A6B2C7"/>
                </a:solidFill>
                <a:latin typeface="微软雅黑" panose="020B0503020204020204" charset="-122"/>
                <a:ea typeface="微软雅黑" panose="020B0503020204020204" charset="-122"/>
                <a:cs typeface="微软雅黑" panose="020B0503020204020204" charset="-122"/>
              </a:rPr>
              <a:t> · 个人项目</a:t>
            </a:r>
            <a:endParaRPr sz="1200" b="0">
              <a:solidFill>
                <a:srgbClr val="A6B2C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a:spLocks noGrp="1"/>
          </p:cNvSpPr>
          <p:nvPr>
            <p:ph type="title" idx="100" hasCustomPrompt="1"/>
          </p:nvPr>
        </p:nvSpPr>
        <p:spPr>
          <a:xfrm>
            <a:off x="548640" y="320040"/>
            <a:ext cx="8778240" cy="777240"/>
          </a:xfrm>
          <a:prstGeom prst="rect">
            <a:avLst/>
          </a:prstGeom>
          <a:noFill/>
        </p:spPr>
        <p:txBody>
          <a:bodyPr lIns="0" tIns="0" rIns="0" bIns="0" anchor="ctr">
            <a:normAutofit/>
          </a:bodyPr>
          <a:lstStyle/>
          <a:p>
            <a:pPr>
              <a:spcBef>
                <a:spcPts val="0"/>
              </a:spcBef>
              <a:spcAft>
                <a:spcPts val="0"/>
              </a:spcAft>
            </a:pPr>
            <a:r>
              <a:rPr sz="3150" b="1">
                <a:solidFill>
                  <a:srgbClr val="16213E"/>
                </a:solidFill>
                <a:latin typeface="Cambria" panose="02040503050406030204"/>
                <a:ea typeface="Cambria" panose="02040503050406030204"/>
                <a:cs typeface="Cambria" panose="02040503050406030204"/>
              </a:rPr>
              <a:t>The problem</a:t>
            </a:r>
            <a:r>
              <a:rPr sz="1950" b="0">
                <a:solidFill>
                  <a:srgbClr val="7C8799"/>
                </a:solidFill>
                <a:latin typeface="Calibri" panose="020F0502020204030204"/>
                <a:ea typeface="Calibri" panose="020F0502020204030204"/>
                <a:cs typeface="Calibri" panose="020F0502020204030204"/>
              </a:rPr>
              <a:t> / </a:t>
            </a:r>
            <a:r>
              <a:rPr sz="2250" b="1">
                <a:solidFill>
                  <a:srgbClr val="16213E"/>
                </a:solidFill>
                <a:latin typeface="微软雅黑" panose="020B0503020204020204" charset="-122"/>
                <a:ea typeface="微软雅黑" panose="020B0503020204020204" charset="-122"/>
                <a:cs typeface="微软雅黑" panose="020B0503020204020204" charset="-122"/>
              </a:rPr>
              <a:t>研究问题</a:t>
            </a:r>
            <a:endParaRPr sz="225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3" name="Text 2"/>
          <p:cNvSpPr>
            <a:spLocks noGrp="1"/>
          </p:cNvSpPr>
          <p:nvPr>
            <p:ph type="body" idx="103" hasCustomPrompt="1"/>
          </p:nvPr>
        </p:nvSpPr>
        <p:spPr>
          <a:xfrm>
            <a:off x="548640" y="1371600"/>
            <a:ext cx="6766560" cy="4663440"/>
          </a:xfrm>
          <a:prstGeom prst="rect">
            <a:avLst/>
          </a:prstGeom>
          <a:noFill/>
        </p:spPr>
        <p:txBody>
          <a:bodyPr lIns="635" tIns="635" rIns="635" bIns="635" anchor="t">
            <a:normAutofit/>
          </a:bodyPr>
          <a:lstStyle>
            <a:defPPr>
              <a:defRPr sz="1915"/>
            </a:defPPr>
          </a:lstStyle>
          <a:p>
            <a:pPr>
              <a:lnSpc>
                <a:spcPct val="150000"/>
              </a:lnSpc>
              <a:spcBef>
                <a:spcPts val="0"/>
              </a:spcBef>
              <a:spcAft>
                <a:spcPts val="5"/>
              </a:spcAft>
              <a:defRPr sz="1915"/>
            </a:pPr>
            <a:r>
              <a:rPr sz="1540" b="0">
                <a:solidFill>
                  <a:srgbClr val="1E2A47"/>
                </a:solidFill>
                <a:latin typeface="Calibri" panose="020F0502020204030204"/>
                <a:ea typeface="Calibri" panose="020F0502020204030204"/>
                <a:cs typeface="Calibri" panose="020F0502020204030204"/>
              </a:rPr>
              <a:t>Clipping a parametric weave to an irregular fan outline often creates fragments and floating ends.</a:t>
            </a:r>
            <a:endParaRPr sz="154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915"/>
            </a:pPr>
            <a:r>
              <a:rPr sz="1240" b="0">
                <a:solidFill>
                  <a:srgbClr val="5E6878"/>
                </a:solidFill>
                <a:latin typeface="微软雅黑" panose="020B0503020204020204" charset="-122"/>
                <a:ea typeface="微软雅黑" panose="020B0503020204020204" charset="-122"/>
                <a:cs typeface="微软雅黑" panose="020B0503020204020204" charset="-122"/>
              </a:rPr>
              <a:t>将参数化编织裁切到不规则扇框时，常会产生断裂线段和悬空端点。</a:t>
            </a:r>
            <a:endParaRPr sz="124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915"/>
            </a:pPr>
            <a:r>
              <a:rPr sz="1540" b="0">
                <a:solidFill>
                  <a:srgbClr val="1E2A47"/>
                </a:solidFill>
                <a:latin typeface="Calibri" panose="020F0502020204030204"/>
                <a:ea typeface="Calibri" panose="020F0502020204030204"/>
                <a:cs typeface="Calibri" panose="020F0502020204030204"/>
              </a:rPr>
              <a:t>Changing density, strip width or rise can break continuity, frame anchoring and printable clearance.</a:t>
            </a:r>
            <a:endParaRPr sz="154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915"/>
            </a:pPr>
            <a:r>
              <a:rPr sz="1240" b="0">
                <a:solidFill>
                  <a:srgbClr val="5E6878"/>
                </a:solidFill>
                <a:latin typeface="微软雅黑" panose="020B0503020204020204" charset="-122"/>
                <a:ea typeface="微软雅黑" panose="020B0503020204020204" charset="-122"/>
                <a:cs typeface="微软雅黑" panose="020B0503020204020204" charset="-122"/>
              </a:rPr>
              <a:t>调整密度、竹条宽度或起伏高度后，连续性、扇框锚定和打印间隙可能同时失效。</a:t>
            </a:r>
            <a:endParaRPr sz="124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915"/>
            </a:pPr>
            <a:r>
              <a:rPr sz="1540">
                <a:solidFill>
                  <a:srgbClr val="1E2A47"/>
                </a:solidFill>
                <a:latin typeface="Calibri" panose="020F0502020204030204"/>
                <a:ea typeface="Calibri" panose="020F0502020204030204"/>
                <a:cs typeface="Calibri" panose="020F0502020204030204"/>
              </a:rPr>
              <a:t>How can a browser system generate one watertight fan while every strip stays continuous and manufacturable?</a:t>
            </a:r>
            <a:endParaRPr sz="154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915"/>
            </a:pPr>
            <a:r>
              <a:rPr sz="1240">
                <a:solidFill>
                  <a:srgbClr val="5E6878"/>
                </a:solidFill>
                <a:latin typeface="微软雅黑" panose="020B0503020204020204" charset="-122"/>
                <a:ea typeface="微软雅黑" panose="020B0503020204020204" charset="-122"/>
                <a:cs typeface="微软雅黑" panose="020B0503020204020204" charset="-122"/>
              </a:rPr>
              <a:t>浏览器系统如何生成一体化、封闭可打印的扇子，并确保每根竹条连续且可制造？</a:t>
            </a:r>
            <a:endParaRPr sz="124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4" name="side label"/>
          <p:cNvSpPr>
            <a:spLocks noGrp="1"/>
          </p:cNvSpPr>
          <p:nvPr/>
        </p:nvSpPr>
        <p:spPr>
          <a:xfrm>
            <a:off x="7863840" y="1508760"/>
            <a:ext cx="3520440" cy="411480"/>
          </a:xfrm>
          <a:prstGeom prst="rect">
            <a:avLst/>
          </a:prstGeom>
          <a:noFill/>
        </p:spPr>
        <p:txBody>
          <a:bodyPr lIns="0" tIns="0" rIns="0" bIns="0" anchor="ctr">
            <a:normAutofit/>
          </a:bodyPr>
          <a:lstStyle>
            <a:defPPr>
              <a:defRPr sz="1800" b="1"/>
            </a:defPPr>
          </a:lstStyle>
          <a:p>
            <a:pPr>
              <a:spcBef>
                <a:spcPts val="0"/>
              </a:spcBef>
              <a:spcAft>
                <a:spcPts val="0"/>
              </a:spcAft>
              <a:defRPr sz="1800" b="1"/>
            </a:pPr>
            <a:r>
              <a:rPr sz="1500" b="1">
                <a:solidFill>
                  <a:srgbClr val="16213E"/>
                </a:solidFill>
                <a:latin typeface="Cambria" panose="02040503050406030204"/>
                <a:ea typeface="Cambria" panose="02040503050406030204"/>
                <a:cs typeface="Cambria" panose="02040503050406030204"/>
              </a:rPr>
              <a:t>New or old?</a:t>
            </a:r>
            <a:r>
              <a:rPr sz="1165" b="1">
                <a:solidFill>
                  <a:srgbClr val="16213E"/>
                </a:solidFill>
                <a:latin typeface="微软雅黑" panose="020B0503020204020204" charset="-122"/>
                <a:ea typeface="微软雅黑" panose="020B0503020204020204" charset="-122"/>
                <a:cs typeface="微软雅黑" panose="020B0503020204020204" charset="-122"/>
              </a:rPr>
              <a:t> / 新旧问题？</a:t>
            </a:r>
            <a:endParaRPr sz="1165"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5" name="Text 3"/>
          <p:cNvSpPr>
            <a:spLocks noGrp="1"/>
          </p:cNvSpPr>
          <p:nvPr>
            <p:ph type="body" idx="105" hasCustomPrompt="1"/>
          </p:nvPr>
        </p:nvSpPr>
        <p:spPr>
          <a:xfrm>
            <a:off x="7863840" y="2011680"/>
            <a:ext cx="3520440" cy="3840480"/>
          </a:xfrm>
          <a:prstGeom prst="rect">
            <a:avLst/>
          </a:prstGeom>
          <a:noFill/>
        </p:spPr>
        <p:txBody>
          <a:bodyPr lIns="635" tIns="635" rIns="635" bIns="635" anchor="t">
            <a:normAutofit/>
          </a:bodyPr>
          <a:lstStyle>
            <a:defPPr>
              <a:defRPr sz="1540"/>
            </a:defPPr>
          </a:lstStyle>
          <a:p>
            <a:pPr>
              <a:lnSpc>
                <a:spcPct val="150000"/>
              </a:lnSpc>
              <a:spcBef>
                <a:spcPts val="0"/>
              </a:spcBef>
              <a:spcAft>
                <a:spcPts val="5"/>
              </a:spcAft>
              <a:defRPr sz="1540"/>
            </a:pPr>
            <a:r>
              <a:rPr sz="1275" b="1">
                <a:solidFill>
                  <a:srgbClr val="1E2A47"/>
                </a:solidFill>
                <a:latin typeface="Calibri" panose="020F0502020204030204"/>
                <a:ea typeface="Calibri" panose="020F0502020204030204"/>
                <a:cs typeface="Calibri" panose="020F0502020204030204"/>
              </a:rPr>
              <a:t>An old problem with an unresolved combination</a:t>
            </a:r>
            <a:endParaRPr sz="1275"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540"/>
            </a:pPr>
            <a:r>
              <a:rPr sz="1090" b="1">
                <a:solidFill>
                  <a:srgbClr val="5E6878"/>
                </a:solidFill>
                <a:latin typeface="微软雅黑" panose="020B0503020204020204" charset="-122"/>
                <a:ea typeface="微软雅黑" panose="020B0503020204020204" charset="-122"/>
                <a:cs typeface="微软雅黑" panose="020B0503020204020204" charset="-122"/>
              </a:rPr>
              <a:t>这是一个旧问题，但关键组合尚未解决。</a:t>
            </a:r>
            <a:endParaRPr sz="1090"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540"/>
            </a:pPr>
            <a:r>
              <a:rPr sz="1200" b="0">
                <a:solidFill>
                  <a:srgbClr val="1E2A47"/>
                </a:solidFill>
                <a:latin typeface="Calibri" panose="020F0502020204030204"/>
                <a:ea typeface="Calibri" panose="020F0502020204030204"/>
                <a:cs typeface="Calibri" panose="020F0502020204030204"/>
              </a:rPr>
              <a:t>Weaving algorithms, craft grammars and interactive tools already exist. What remains missing is real-time control that preserves non-convex frame anchoring and printable geometry at handheld scale.</a:t>
            </a:r>
            <a:endParaRPr sz="120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540"/>
            </a:pPr>
            <a:r>
              <a:rPr sz="1015" b="0">
                <a:solidFill>
                  <a:srgbClr val="5E6878"/>
                </a:solidFill>
                <a:latin typeface="微软雅黑" panose="020B0503020204020204" charset="-122"/>
                <a:ea typeface="微软雅黑" panose="020B0503020204020204" charset="-122"/>
                <a:cs typeface="微软雅黑" panose="020B0503020204020204" charset="-122"/>
              </a:rPr>
              <a:t>已有研究分别处理编织算法、工艺语法与交互工具，但尚未在手持尺度上同时实现非凸扇框锚定、实时调参与可打印几何。</a:t>
            </a:r>
            <a:endParaRPr sz="1015"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a:spLocks noGrp="1"/>
          </p:cNvSpPr>
          <p:nvPr>
            <p:ph type="title" idx="100" hasCustomPrompt="1"/>
          </p:nvPr>
        </p:nvSpPr>
        <p:spPr>
          <a:xfrm>
            <a:off x="548640" y="320040"/>
            <a:ext cx="8778240" cy="777240"/>
          </a:xfrm>
          <a:prstGeom prst="rect">
            <a:avLst/>
          </a:prstGeom>
          <a:noFill/>
        </p:spPr>
        <p:txBody>
          <a:bodyPr lIns="0" tIns="0" rIns="0" bIns="0" anchor="ctr">
            <a:normAutofit/>
          </a:bodyPr>
          <a:lstStyle/>
          <a:p>
            <a:pPr>
              <a:spcBef>
                <a:spcPts val="0"/>
              </a:spcBef>
              <a:spcAft>
                <a:spcPts val="0"/>
              </a:spcAft>
            </a:pPr>
            <a:r>
              <a:rPr sz="3150" b="1">
                <a:solidFill>
                  <a:srgbClr val="16213E"/>
                </a:solidFill>
                <a:latin typeface="Cambria" panose="02040503050406030204"/>
                <a:ea typeface="Cambria" panose="02040503050406030204"/>
                <a:cs typeface="Cambria" panose="02040503050406030204"/>
              </a:rPr>
              <a:t>The gap</a:t>
            </a:r>
            <a:r>
              <a:rPr sz="1950" b="0">
                <a:solidFill>
                  <a:srgbClr val="7C8799"/>
                </a:solidFill>
                <a:latin typeface="Calibri" panose="020F0502020204030204"/>
                <a:ea typeface="Calibri" panose="020F0502020204030204"/>
                <a:cs typeface="Calibri" panose="020F0502020204030204"/>
              </a:rPr>
              <a:t> / </a:t>
            </a:r>
            <a:r>
              <a:rPr sz="2250" b="1">
                <a:solidFill>
                  <a:srgbClr val="16213E"/>
                </a:solidFill>
                <a:latin typeface="微软雅黑" panose="020B0503020204020204" charset="-122"/>
                <a:ea typeface="微软雅黑" panose="020B0503020204020204" charset="-122"/>
                <a:cs typeface="微软雅黑" panose="020B0503020204020204" charset="-122"/>
              </a:rPr>
              <a:t>研究缺口</a:t>
            </a:r>
            <a:endParaRPr sz="225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3" name="Text 2"/>
          <p:cNvSpPr>
            <a:spLocks noGrp="1"/>
          </p:cNvSpPr>
          <p:nvPr>
            <p:ph type="body" idx="103" hasCustomPrompt="1"/>
          </p:nvPr>
        </p:nvSpPr>
        <p:spPr>
          <a:xfrm>
            <a:off x="548640" y="1371600"/>
            <a:ext cx="6766560" cy="4663440"/>
          </a:xfrm>
          <a:prstGeom prst="rect">
            <a:avLst/>
          </a:prstGeom>
          <a:noFill/>
        </p:spPr>
        <p:txBody>
          <a:bodyPr lIns="635" tIns="635" rIns="635" bIns="635" anchor="t">
            <a:normAutofit/>
          </a:bodyPr>
          <a:lstStyle>
            <a:defPPr>
              <a:defRPr sz="1615"/>
            </a:defPPr>
          </a:lstStyle>
          <a:p>
            <a:pPr>
              <a:lnSpc>
                <a:spcPct val="150000"/>
              </a:lnSpc>
              <a:spcBef>
                <a:spcPts val="0"/>
              </a:spcBef>
              <a:spcAft>
                <a:spcPts val="0"/>
              </a:spcAft>
              <a:defRPr sz="1615"/>
            </a:pPr>
            <a:r>
              <a:rPr sz="1425" b="1">
                <a:solidFill>
                  <a:srgbClr val="1E2A47"/>
                </a:solidFill>
                <a:latin typeface="Calibri" panose="020F0502020204030204"/>
                <a:ea typeface="Calibri" panose="020F0502020204030204"/>
                <a:cs typeface="Calibri" panose="020F0502020204030204"/>
              </a:rPr>
              <a:t>Ren et al. (2021)</a:t>
            </a:r>
            <a:endParaRPr sz="1425"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a:pPr>
            <a:r>
              <a:rPr sz="1275" b="0">
                <a:solidFill>
                  <a:srgbClr val="1E2A47"/>
                </a:solidFill>
                <a:latin typeface="Calibri" panose="020F0502020204030204"/>
                <a:ea typeface="Calibri" panose="020F0502020204030204"/>
                <a:cs typeface="Calibri" panose="020F0502020204030204"/>
              </a:rPr>
              <a:t>Continuous curved ribbons, but with offline optimisation and external boundary fixing.</a:t>
            </a:r>
            <a:endParaRPr sz="127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0"/>
              </a:spcAft>
              <a:defRPr sz="1615"/>
            </a:pPr>
            <a:r>
              <a:rPr sz="1090" b="0">
                <a:solidFill>
                  <a:srgbClr val="5E6878"/>
                </a:solidFill>
                <a:latin typeface="微软雅黑" panose="020B0503020204020204" charset="-122"/>
                <a:ea typeface="微软雅黑" panose="020B0503020204020204" charset="-122"/>
                <a:cs typeface="微软雅黑" panose="020B0503020204020204" charset="-122"/>
              </a:rPr>
              <a:t>连续曲面带编织，但依赖离线优化与外部边界固定。</a:t>
            </a:r>
            <a:endParaRPr sz="109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0"/>
              </a:spcAft>
              <a:defRPr sz="1615"/>
            </a:pPr>
            <a:r>
              <a:rPr sz="1425" b="1">
                <a:solidFill>
                  <a:srgbClr val="1E2A47"/>
                </a:solidFill>
                <a:latin typeface="Calibri" panose="020F0502020204030204"/>
                <a:ea typeface="Calibri" panose="020F0502020204030204"/>
                <a:cs typeface="Calibri" panose="020F0502020204030204"/>
              </a:rPr>
              <a:t>Wu et al. (2020), Weavecraft</a:t>
            </a:r>
            <a:endParaRPr sz="1425"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a:pPr>
            <a:r>
              <a:rPr sz="1275" b="0">
                <a:solidFill>
                  <a:srgbClr val="1E2A47"/>
                </a:solidFill>
                <a:latin typeface="Calibri" panose="020F0502020204030204"/>
                <a:ea typeface="Calibri" panose="020F0502020204030204"/>
                <a:cs typeface="Calibri" panose="020F0502020204030204"/>
              </a:rPr>
              <a:t>Interactive 3D weave design, but no rigid non-convex frame or watertight product export.</a:t>
            </a:r>
            <a:endParaRPr sz="127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0"/>
              </a:spcAft>
              <a:defRPr sz="1615"/>
            </a:pPr>
            <a:r>
              <a:rPr sz="1090" b="0">
                <a:solidFill>
                  <a:srgbClr val="5E6878"/>
                </a:solidFill>
                <a:latin typeface="微软雅黑" panose="020B0503020204020204" charset="-122"/>
                <a:ea typeface="微软雅黑" panose="020B0503020204020204" charset="-122"/>
                <a:cs typeface="微软雅黑" panose="020B0503020204020204" charset="-122"/>
              </a:rPr>
              <a:t>支持交互式三维编织，但未处理刚性非凸扇框与产品级封闭网格导出。</a:t>
            </a:r>
            <a:endParaRPr sz="109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0"/>
              </a:spcAft>
              <a:defRPr sz="1615"/>
            </a:pPr>
            <a:r>
              <a:rPr sz="1425" b="1">
                <a:solidFill>
                  <a:srgbClr val="1E2A47"/>
                </a:solidFill>
                <a:latin typeface="Calibri" panose="020F0502020204030204"/>
                <a:ea typeface="Calibri" panose="020F0502020204030204"/>
                <a:cs typeface="Calibri" panose="020F0502020204030204"/>
              </a:rPr>
              <a:t>Muslimin (2010)</a:t>
            </a:r>
            <a:endParaRPr sz="1425"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a:pPr>
            <a:r>
              <a:rPr sz="1275" b="0">
                <a:solidFill>
                  <a:srgbClr val="1E2A47"/>
                </a:solidFill>
                <a:latin typeface="Calibri" panose="020F0502020204030204"/>
                <a:ea typeface="Calibri" panose="020F0502020204030204"/>
                <a:cs typeface="Calibri" panose="020F0502020204030204"/>
              </a:rPr>
              <a:t>A parametric grammar, but discrete modules do not ensure continuous strips or anchored ends.</a:t>
            </a:r>
            <a:endParaRPr sz="127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a:pPr>
            <a:r>
              <a:rPr sz="1090" b="0">
                <a:solidFill>
                  <a:srgbClr val="5E6878"/>
                </a:solidFill>
                <a:latin typeface="微软雅黑" panose="020B0503020204020204" charset="-122"/>
                <a:ea typeface="微软雅黑" panose="020B0503020204020204" charset="-122"/>
                <a:cs typeface="微软雅黑" panose="020B0503020204020204" charset="-122"/>
              </a:rPr>
              <a:t>建立参数化编织语法，但离散模块无法保证竹条全局连续及端点锚定。</a:t>
            </a:r>
            <a:endParaRPr sz="1090"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4" name="side label"/>
          <p:cNvSpPr>
            <a:spLocks noGrp="1"/>
          </p:cNvSpPr>
          <p:nvPr/>
        </p:nvSpPr>
        <p:spPr>
          <a:xfrm>
            <a:off x="7863840" y="1508760"/>
            <a:ext cx="3520440" cy="411480"/>
          </a:xfrm>
          <a:prstGeom prst="rect">
            <a:avLst/>
          </a:prstGeom>
          <a:noFill/>
        </p:spPr>
        <p:txBody>
          <a:bodyPr lIns="0" tIns="0" rIns="0" bIns="0" anchor="ctr">
            <a:normAutofit/>
          </a:bodyPr>
          <a:lstStyle>
            <a:defPPr>
              <a:defRPr sz="1800" b="1"/>
            </a:defPPr>
          </a:lstStyle>
          <a:p>
            <a:pPr>
              <a:spcBef>
                <a:spcPts val="0"/>
              </a:spcBef>
              <a:spcAft>
                <a:spcPts val="0"/>
              </a:spcAft>
              <a:defRPr sz="1800" b="1"/>
            </a:pPr>
            <a:r>
              <a:rPr sz="1390" b="1">
                <a:solidFill>
                  <a:srgbClr val="16213E"/>
                </a:solidFill>
                <a:latin typeface="Cambria" panose="02040503050406030204"/>
                <a:ea typeface="Cambria" panose="02040503050406030204"/>
                <a:cs typeface="Cambria" panose="02040503050406030204"/>
              </a:rPr>
              <a:t>Gap and change</a:t>
            </a:r>
            <a:r>
              <a:rPr sz="1090" b="1">
                <a:solidFill>
                  <a:srgbClr val="16213E"/>
                </a:solidFill>
                <a:latin typeface="微软雅黑" panose="020B0503020204020204" charset="-122"/>
                <a:ea typeface="微软雅黑" panose="020B0503020204020204" charset="-122"/>
                <a:cs typeface="微软雅黑" panose="020B0503020204020204" charset="-122"/>
              </a:rPr>
              <a:t> / 缺口与调整</a:t>
            </a:r>
            <a:endParaRPr sz="109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5" name="Text 3"/>
          <p:cNvSpPr>
            <a:spLocks noGrp="1"/>
          </p:cNvSpPr>
          <p:nvPr>
            <p:ph type="body" idx="105" hasCustomPrompt="1"/>
          </p:nvPr>
        </p:nvSpPr>
        <p:spPr>
          <a:xfrm>
            <a:off x="7863840" y="2011680"/>
            <a:ext cx="3520440" cy="3840480"/>
          </a:xfrm>
          <a:prstGeom prst="rect">
            <a:avLst/>
          </a:prstGeom>
          <a:noFill/>
        </p:spPr>
        <p:txBody>
          <a:bodyPr lIns="635" tIns="635" rIns="635" bIns="635" anchor="t">
            <a:normAutofit/>
          </a:bodyPr>
          <a:lstStyle>
            <a:defPPr>
              <a:defRPr sz="1400"/>
            </a:defPPr>
          </a:lstStyle>
          <a:p>
            <a:pPr>
              <a:lnSpc>
                <a:spcPct val="150000"/>
              </a:lnSpc>
              <a:spcBef>
                <a:spcPts val="0"/>
              </a:spcBef>
              <a:spcAft>
                <a:spcPts val="5"/>
              </a:spcAft>
              <a:defRPr sz="1400"/>
            </a:pPr>
            <a:r>
              <a:rPr sz="1165" b="1">
                <a:solidFill>
                  <a:srgbClr val="1E2A47"/>
                </a:solidFill>
                <a:latin typeface="Calibri" panose="020F0502020204030204"/>
                <a:ea typeface="Calibri" panose="020F0502020204030204"/>
                <a:cs typeface="Calibri" panose="020F0502020204030204"/>
              </a:rPr>
              <a:t>GAP</a:t>
            </a:r>
            <a:r>
              <a:rPr sz="1015" b="1">
                <a:solidFill>
                  <a:srgbClr val="5E6878"/>
                </a:solidFill>
                <a:latin typeface="微软雅黑" panose="020B0503020204020204" charset="-122"/>
                <a:ea typeface="微软雅黑" panose="020B0503020204020204" charset="-122"/>
                <a:cs typeface="微软雅黑" panose="020B0503020204020204" charset="-122"/>
              </a:rPr>
              <a:t> / 缺口</a:t>
            </a:r>
            <a:endParaRPr sz="1015"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400"/>
            </a:pPr>
            <a:r>
              <a:rPr sz="1165" b="0">
                <a:solidFill>
                  <a:srgbClr val="1E2A47"/>
                </a:solidFill>
                <a:latin typeface="Calibri" panose="020F0502020204030204"/>
                <a:ea typeface="Calibri" panose="020F0502020204030204"/>
                <a:cs typeface="Calibri" panose="020F0502020204030204"/>
              </a:rPr>
              <a:t>No method yet combines continuous over-under paths, automatic anchoring to a non-convex frame and real-time 3D-print constraints.</a:t>
            </a:r>
            <a:endParaRPr sz="116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400"/>
            </a:pPr>
            <a:r>
              <a:rPr sz="990" b="0">
                <a:solidFill>
                  <a:srgbClr val="5E6878"/>
                </a:solidFill>
                <a:latin typeface="微软雅黑" panose="020B0503020204020204" charset="-122"/>
                <a:ea typeface="微软雅黑" panose="020B0503020204020204" charset="-122"/>
                <a:cs typeface="微软雅黑" panose="020B0503020204020204" charset="-122"/>
              </a:rPr>
              <a:t>现有方法尚未同时实现连续经纬路径、非凸边框自动锚定与实时3D打印约束。</a:t>
            </a:r>
            <a:endParaRPr sz="99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400"/>
            </a:pPr>
            <a:r>
              <a:rPr sz="1165" b="1">
                <a:solidFill>
                  <a:srgbClr val="1E2A47"/>
                </a:solidFill>
                <a:latin typeface="Calibri" panose="020F0502020204030204"/>
                <a:ea typeface="Calibri" panose="020F0502020204030204"/>
                <a:cs typeface="Calibri" panose="020F0502020204030204"/>
              </a:rPr>
              <a:t>CHANGE</a:t>
            </a:r>
            <a:r>
              <a:rPr sz="1015" b="1">
                <a:solidFill>
                  <a:srgbClr val="5E6878"/>
                </a:solidFill>
                <a:latin typeface="微软雅黑" panose="020B0503020204020204" charset="-122"/>
                <a:ea typeface="微软雅黑" panose="020B0503020204020204" charset="-122"/>
                <a:cs typeface="微软雅黑" panose="020B0503020204020204" charset="-122"/>
              </a:rPr>
              <a:t> / 调整</a:t>
            </a:r>
            <a:endParaRPr sz="1015"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400"/>
            </a:pPr>
            <a:r>
              <a:rPr sz="1165" b="0">
                <a:solidFill>
                  <a:srgbClr val="1E2A47"/>
                </a:solidFill>
                <a:latin typeface="Calibri" panose="020F0502020204030204"/>
                <a:ea typeface="Calibri" panose="020F0502020204030204"/>
                <a:cs typeface="Calibri" panose="020F0502020204030204"/>
              </a:rPr>
              <a:t>Several visual algorithms became one rotating-diamond method governed by boundary topology and manufacturability.</a:t>
            </a:r>
            <a:endParaRPr sz="116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400"/>
            </a:pPr>
            <a:r>
              <a:rPr sz="990" b="0">
                <a:solidFill>
                  <a:srgbClr val="5E6878"/>
                </a:solidFill>
                <a:latin typeface="微软雅黑" panose="020B0503020204020204" charset="-122"/>
                <a:ea typeface="微软雅黑" panose="020B0503020204020204" charset="-122"/>
                <a:cs typeface="微软雅黑" panose="020B0503020204020204" charset="-122"/>
              </a:rPr>
              <a:t>项目由多种视觉算法收束为一种旋转菱纹方法，所有参数由边界拓扑和制造约束控制。</a:t>
            </a:r>
            <a:endParaRPr sz="990"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a:spLocks noGrp="1"/>
          </p:cNvSpPr>
          <p:nvPr>
            <p:ph type="title" idx="100" hasCustomPrompt="1"/>
          </p:nvPr>
        </p:nvSpPr>
        <p:spPr>
          <a:xfrm>
            <a:off x="548640" y="320040"/>
            <a:ext cx="8778240" cy="777240"/>
          </a:xfrm>
          <a:prstGeom prst="rect">
            <a:avLst/>
          </a:prstGeom>
          <a:noFill/>
        </p:spPr>
        <p:txBody>
          <a:bodyPr lIns="0" tIns="0" rIns="0" bIns="0" anchor="ctr">
            <a:normAutofit/>
          </a:bodyPr>
          <a:lstStyle/>
          <a:p>
            <a:pPr>
              <a:spcBef>
                <a:spcPts val="0"/>
              </a:spcBef>
              <a:spcAft>
                <a:spcPts val="0"/>
              </a:spcAft>
            </a:pPr>
            <a:r>
              <a:rPr sz="3150" b="1">
                <a:solidFill>
                  <a:srgbClr val="16213E"/>
                </a:solidFill>
                <a:latin typeface="Cambria" panose="02040503050406030204"/>
                <a:ea typeface="Cambria" panose="02040503050406030204"/>
                <a:cs typeface="Cambria" panose="02040503050406030204"/>
              </a:rPr>
              <a:t>The contribution</a:t>
            </a:r>
            <a:r>
              <a:rPr sz="1950" b="0">
                <a:solidFill>
                  <a:srgbClr val="7C8799"/>
                </a:solidFill>
                <a:latin typeface="Calibri" panose="020F0502020204030204"/>
                <a:ea typeface="Calibri" panose="020F0502020204030204"/>
                <a:cs typeface="Calibri" panose="020F0502020204030204"/>
              </a:rPr>
              <a:t> / </a:t>
            </a:r>
            <a:r>
              <a:rPr sz="2250" b="1">
                <a:solidFill>
                  <a:srgbClr val="16213E"/>
                </a:solidFill>
                <a:latin typeface="微软雅黑" panose="020B0503020204020204" charset="-122"/>
                <a:ea typeface="微软雅黑" panose="020B0503020204020204" charset="-122"/>
                <a:cs typeface="微软雅黑" panose="020B0503020204020204" charset="-122"/>
              </a:rPr>
              <a:t>研究贡献</a:t>
            </a:r>
            <a:endParaRPr sz="225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3" name="Text 2"/>
          <p:cNvSpPr>
            <a:spLocks noGrp="1"/>
          </p:cNvSpPr>
          <p:nvPr>
            <p:ph type="body" idx="103" hasCustomPrompt="1"/>
          </p:nvPr>
        </p:nvSpPr>
        <p:spPr>
          <a:xfrm>
            <a:off x="548640" y="1371600"/>
            <a:ext cx="6766560" cy="4663440"/>
          </a:xfrm>
          <a:prstGeom prst="rect">
            <a:avLst/>
          </a:prstGeom>
          <a:noFill/>
        </p:spPr>
        <p:txBody>
          <a:bodyPr lIns="635" tIns="635" rIns="635" bIns="635" anchor="t">
            <a:normAutofit/>
          </a:bodyPr>
          <a:lstStyle>
            <a:defPPr>
              <a:defRPr sz="1690"/>
            </a:defPPr>
          </a:lstStyle>
          <a:p>
            <a:pPr>
              <a:lnSpc>
                <a:spcPct val="150000"/>
              </a:lnSpc>
              <a:spcBef>
                <a:spcPts val="0"/>
              </a:spcBef>
              <a:spcAft>
                <a:spcPts val="15"/>
              </a:spcAft>
              <a:defRPr sz="1690"/>
            </a:pPr>
            <a:r>
              <a:rPr sz="1425" b="1">
                <a:solidFill>
                  <a:srgbClr val="1E2A47"/>
                </a:solidFill>
                <a:latin typeface="Calibri" panose="020F0502020204030204"/>
                <a:ea typeface="Calibri" panose="020F0502020204030204"/>
                <a:cs typeface="Calibri" panose="020F0502020204030204"/>
              </a:rPr>
              <a:t>PRIMARY TYPE: METHOD</a:t>
            </a:r>
            <a:r>
              <a:rPr sz="1165" b="1">
                <a:solidFill>
                  <a:srgbClr val="5E6878"/>
                </a:solidFill>
                <a:latin typeface="微软雅黑" panose="020B0503020204020204" charset="-122"/>
                <a:ea typeface="微软雅黑" panose="020B0503020204020204" charset="-122"/>
                <a:cs typeface="微软雅黑" panose="020B0503020204020204" charset="-122"/>
              </a:rPr>
              <a:t> / 主要类型：方法</a:t>
            </a:r>
            <a:endParaRPr sz="1165"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90"/>
            </a:pPr>
            <a:r>
              <a:rPr sz="1350" b="0">
                <a:solidFill>
                  <a:srgbClr val="1E2A47"/>
                </a:solidFill>
                <a:latin typeface="Calibri" panose="020F0502020204030204"/>
                <a:ea typeface="Calibri" panose="020F0502020204030204"/>
                <a:cs typeface="Calibri" panose="020F0502020204030204"/>
              </a:rPr>
              <a:t>1  Boundary-aware paths map a rotating-diamond field to a non-convex frame and reject fragments.</a:t>
            </a:r>
            <a:endParaRPr sz="135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690"/>
            </a:pPr>
            <a:r>
              <a:rPr sz="1110" b="0">
                <a:solidFill>
                  <a:srgbClr val="5E6878"/>
                </a:solidFill>
                <a:latin typeface="微软雅黑" panose="020B0503020204020204" charset="-122"/>
                <a:ea typeface="微软雅黑" panose="020B0503020204020204" charset="-122"/>
                <a:cs typeface="微软雅黑" panose="020B0503020204020204" charset="-122"/>
              </a:rPr>
              <a:t>边界感知路径将旋转菱纹映射至非凸扇框，并剔除碎片线段。</a:t>
            </a:r>
            <a:endParaRPr sz="111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90"/>
            </a:pPr>
            <a:r>
              <a:rPr sz="1350" b="0">
                <a:solidFill>
                  <a:srgbClr val="1E2A47"/>
                </a:solidFill>
                <a:latin typeface="Calibri" panose="020F0502020204030204"/>
                <a:ea typeface="Calibri" panose="020F0502020204030204"/>
                <a:cs typeface="Calibri" panose="020F0502020204030204"/>
              </a:rPr>
              <a:t>2  Crossing topology alternates Z offsets without breaking a strip.</a:t>
            </a:r>
            <a:endParaRPr sz="135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690"/>
            </a:pPr>
            <a:r>
              <a:rPr sz="1110" b="0">
                <a:solidFill>
                  <a:srgbClr val="5E6878"/>
                </a:solidFill>
                <a:latin typeface="微软雅黑" panose="020B0503020204020204" charset="-122"/>
                <a:ea typeface="微软雅黑" panose="020B0503020204020204" charset="-122"/>
                <a:cs typeface="微软雅黑" panose="020B0503020204020204" charset="-122"/>
              </a:rPr>
              <a:t>交叉拓扑在保持竹条完整的前提下交替设置 Z 轴起伏。</a:t>
            </a:r>
            <a:endParaRPr sz="111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90"/>
            </a:pPr>
            <a:r>
              <a:rPr sz="1350" b="0">
                <a:solidFill>
                  <a:srgbClr val="1E2A47"/>
                </a:solidFill>
                <a:latin typeface="Calibri" panose="020F0502020204030204"/>
                <a:ea typeface="Calibri" panose="020F0502020204030204"/>
                <a:cs typeface="Calibri" panose="020F0502020204030204"/>
              </a:rPr>
              <a:t>3  The WebGL system checks width, thickness and clearance before exporting a watertight STL.</a:t>
            </a:r>
            <a:endParaRPr sz="135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90"/>
            </a:pPr>
            <a:r>
              <a:rPr sz="1110" b="0">
                <a:solidFill>
                  <a:srgbClr val="5E6878"/>
                </a:solidFill>
                <a:latin typeface="微软雅黑" panose="020B0503020204020204" charset="-122"/>
                <a:ea typeface="微软雅黑" panose="020B0503020204020204" charset="-122"/>
                <a:cs typeface="微软雅黑" panose="020B0503020204020204" charset="-122"/>
              </a:rPr>
              <a:t>WebGL 系统在导出封闭 STL 前检查宽度、厚度和间隙。</a:t>
            </a:r>
            <a:endParaRPr sz="1110"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4" name="side label"/>
          <p:cNvSpPr>
            <a:spLocks noGrp="1"/>
          </p:cNvSpPr>
          <p:nvPr/>
        </p:nvSpPr>
        <p:spPr>
          <a:xfrm>
            <a:off x="7863840" y="1508760"/>
            <a:ext cx="3520440" cy="411480"/>
          </a:xfrm>
          <a:prstGeom prst="rect">
            <a:avLst/>
          </a:prstGeom>
          <a:noFill/>
        </p:spPr>
        <p:txBody>
          <a:bodyPr lIns="0" tIns="0" rIns="0" bIns="0" anchor="ctr">
            <a:normAutofit/>
          </a:bodyPr>
          <a:lstStyle>
            <a:defPPr>
              <a:defRPr sz="1800" b="1"/>
            </a:defPPr>
          </a:lstStyle>
          <a:p>
            <a:pPr>
              <a:spcBef>
                <a:spcPts val="0"/>
              </a:spcBef>
              <a:spcAft>
                <a:spcPts val="0"/>
              </a:spcAft>
              <a:defRPr sz="1800" b="1"/>
            </a:pPr>
            <a:r>
              <a:rPr sz="1390" b="1">
                <a:solidFill>
                  <a:srgbClr val="16213E"/>
                </a:solidFill>
                <a:latin typeface="Cambria" panose="02040503050406030204"/>
                <a:ea typeface="Cambria" panose="02040503050406030204"/>
                <a:cs typeface="Cambria" panose="02040503050406030204"/>
              </a:rPr>
              <a:t>Necessity test</a:t>
            </a:r>
            <a:r>
              <a:rPr sz="1090" b="1">
                <a:solidFill>
                  <a:srgbClr val="16213E"/>
                </a:solidFill>
                <a:latin typeface="微软雅黑" panose="020B0503020204020204" charset="-122"/>
                <a:ea typeface="微软雅黑" panose="020B0503020204020204" charset="-122"/>
                <a:cs typeface="微软雅黑" panose="020B0503020204020204" charset="-122"/>
              </a:rPr>
              <a:t> / 必要性检验</a:t>
            </a:r>
            <a:endParaRPr sz="109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5" name="Text 3"/>
          <p:cNvSpPr>
            <a:spLocks noGrp="1"/>
          </p:cNvSpPr>
          <p:nvPr>
            <p:ph type="body" idx="105" hasCustomPrompt="1"/>
          </p:nvPr>
        </p:nvSpPr>
        <p:spPr>
          <a:xfrm>
            <a:off x="7863840" y="2011680"/>
            <a:ext cx="3520440" cy="3840480"/>
          </a:xfrm>
          <a:prstGeom prst="rect">
            <a:avLst/>
          </a:prstGeom>
          <a:noFill/>
        </p:spPr>
        <p:txBody>
          <a:bodyPr lIns="635" tIns="635" rIns="635" bIns="635" anchor="t">
            <a:normAutofit/>
          </a:bodyPr>
          <a:lstStyle>
            <a:defPPr>
              <a:defRPr sz="1540"/>
            </a:defPPr>
          </a:lstStyle>
          <a:p>
            <a:pPr>
              <a:lnSpc>
                <a:spcPct val="150000"/>
              </a:lnSpc>
              <a:spcBef>
                <a:spcPts val="0"/>
              </a:spcBef>
              <a:spcAft>
                <a:spcPts val="5"/>
              </a:spcAft>
              <a:defRPr sz="1540"/>
            </a:pPr>
            <a:r>
              <a:rPr sz="1165" b="1">
                <a:solidFill>
                  <a:srgbClr val="1E2A47"/>
                </a:solidFill>
                <a:latin typeface="Calibri" panose="020F0502020204030204"/>
                <a:ea typeface="Calibri" panose="020F0502020204030204"/>
                <a:cs typeface="Calibri" panose="020F0502020204030204"/>
              </a:rPr>
              <a:t>WITHOUT MAKING</a:t>
            </a:r>
            <a:r>
              <a:rPr sz="1015" b="1">
                <a:solidFill>
                  <a:srgbClr val="5E6878"/>
                </a:solidFill>
                <a:latin typeface="微软雅黑" panose="020B0503020204020204" charset="-122"/>
                <a:ea typeface="微软雅黑" panose="020B0503020204020204" charset="-122"/>
                <a:cs typeface="微软雅黑" panose="020B0503020204020204" charset="-122"/>
              </a:rPr>
              <a:t> / 若不制作</a:t>
            </a:r>
            <a:endParaRPr sz="1015"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540"/>
            </a:pPr>
            <a:r>
              <a:rPr sz="1165" b="0">
                <a:solidFill>
                  <a:srgbClr val="1E2A47"/>
                </a:solidFill>
                <a:latin typeface="Calibri" panose="020F0502020204030204"/>
                <a:ea typeface="Calibri" panose="020F0502020204030204"/>
                <a:cs typeface="Calibri" panose="020F0502020204030204"/>
              </a:rPr>
              <a:t>The project cannot test frame bonding, crossing clearance or printability.</a:t>
            </a:r>
            <a:endParaRPr sz="116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540"/>
            </a:pPr>
            <a:r>
              <a:rPr sz="990" b="0">
                <a:solidFill>
                  <a:srgbClr val="5E6878"/>
                </a:solidFill>
                <a:latin typeface="微软雅黑" panose="020B0503020204020204" charset="-122"/>
                <a:ea typeface="微软雅黑" panose="020B0503020204020204" charset="-122"/>
                <a:cs typeface="微软雅黑" panose="020B0503020204020204" charset="-122"/>
              </a:rPr>
              <a:t>项目无法验证扇框连接、交叉间隙与实际可打印性。</a:t>
            </a:r>
            <a:endParaRPr sz="99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540"/>
            </a:pPr>
            <a:r>
              <a:rPr sz="1165" b="1">
                <a:solidFill>
                  <a:srgbClr val="1E2A47"/>
                </a:solidFill>
                <a:latin typeface="Calibri" panose="020F0502020204030204"/>
                <a:ea typeface="Calibri" panose="020F0502020204030204"/>
                <a:cs typeface="Calibri" panose="020F0502020204030204"/>
              </a:rPr>
              <a:t>WITHOUT THE FAN DOMAIN</a:t>
            </a:r>
            <a:r>
              <a:rPr sz="1015" b="1">
                <a:solidFill>
                  <a:srgbClr val="5E6878"/>
                </a:solidFill>
                <a:latin typeface="微软雅黑" panose="020B0503020204020204" charset="-122"/>
                <a:ea typeface="微软雅黑" panose="020B0503020204020204" charset="-122"/>
                <a:cs typeface="微软雅黑" panose="020B0503020204020204" charset="-122"/>
              </a:rPr>
              <a:t> / 若脱离扇子语境</a:t>
            </a:r>
            <a:endParaRPr sz="1015"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540"/>
            </a:pPr>
            <a:r>
              <a:rPr sz="1165" b="0">
                <a:solidFill>
                  <a:srgbClr val="1E2A47"/>
                </a:solidFill>
                <a:latin typeface="Calibri" panose="020F0502020204030204"/>
                <a:ea typeface="Calibri" panose="020F0502020204030204"/>
                <a:cs typeface="Calibri" panose="020F0502020204030204"/>
              </a:rPr>
              <a:t>The method becomes a generic pattern demo. The irregular frame and handheld scale define the research constraint.</a:t>
            </a:r>
            <a:endParaRPr sz="116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540"/>
            </a:pPr>
            <a:r>
              <a:rPr sz="990" b="0">
                <a:solidFill>
                  <a:srgbClr val="5E6878"/>
                </a:solidFill>
                <a:latin typeface="微软雅黑" panose="020B0503020204020204" charset="-122"/>
                <a:ea typeface="微软雅黑" panose="020B0503020204020204" charset="-122"/>
                <a:cs typeface="微软雅黑" panose="020B0503020204020204" charset="-122"/>
              </a:rPr>
              <a:t>方法将退化为通用图案演示；不规则封闭边框与手持制造尺度构成核心研究约束。</a:t>
            </a:r>
            <a:endParaRPr sz="990"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a:spLocks noGrp="1"/>
          </p:cNvSpPr>
          <p:nvPr>
            <p:ph type="title" idx="100" hasCustomPrompt="1"/>
          </p:nvPr>
        </p:nvSpPr>
        <p:spPr>
          <a:xfrm>
            <a:off x="548640" y="320040"/>
            <a:ext cx="8778240" cy="777240"/>
          </a:xfrm>
          <a:prstGeom prst="rect">
            <a:avLst/>
          </a:prstGeom>
          <a:noFill/>
        </p:spPr>
        <p:txBody>
          <a:bodyPr lIns="0" tIns="0" rIns="0" bIns="0" anchor="ctr">
            <a:normAutofit/>
          </a:bodyPr>
          <a:lstStyle/>
          <a:p>
            <a:pPr>
              <a:spcBef>
                <a:spcPts val="0"/>
              </a:spcBef>
              <a:spcAft>
                <a:spcPts val="0"/>
              </a:spcAft>
            </a:pPr>
            <a:r>
              <a:rPr sz="3000" b="1">
                <a:solidFill>
                  <a:srgbClr val="16213E"/>
                </a:solidFill>
                <a:latin typeface="Cambria" panose="02040503050406030204"/>
                <a:ea typeface="Cambria" panose="02040503050406030204"/>
                <a:cs typeface="Cambria" panose="02040503050406030204"/>
              </a:rPr>
              <a:t>Venue and artifact</a:t>
            </a:r>
            <a:r>
              <a:rPr sz="1800" b="0">
                <a:solidFill>
                  <a:srgbClr val="7C8799"/>
                </a:solidFill>
                <a:latin typeface="Calibri" panose="020F0502020204030204"/>
                <a:ea typeface="Calibri" panose="020F0502020204030204"/>
                <a:cs typeface="Calibri" panose="020F0502020204030204"/>
              </a:rPr>
              <a:t> / </a:t>
            </a:r>
            <a:r>
              <a:rPr sz="2100" b="1">
                <a:solidFill>
                  <a:srgbClr val="16213E"/>
                </a:solidFill>
                <a:latin typeface="微软雅黑" panose="020B0503020204020204" charset="-122"/>
                <a:ea typeface="微软雅黑" panose="020B0503020204020204" charset="-122"/>
                <a:cs typeface="微软雅黑" panose="020B0503020204020204" charset="-122"/>
              </a:rPr>
              <a:t>投稿与制作成果</a:t>
            </a:r>
            <a:endParaRPr sz="210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3" name="Text 2"/>
          <p:cNvSpPr>
            <a:spLocks noGrp="1"/>
          </p:cNvSpPr>
          <p:nvPr>
            <p:ph type="body" idx="103" hasCustomPrompt="1"/>
          </p:nvPr>
        </p:nvSpPr>
        <p:spPr>
          <a:xfrm>
            <a:off x="548640" y="1371600"/>
            <a:ext cx="6766560" cy="4663440"/>
          </a:xfrm>
          <a:prstGeom prst="rect">
            <a:avLst/>
          </a:prstGeom>
          <a:noFill/>
        </p:spPr>
        <p:txBody>
          <a:bodyPr lIns="635" tIns="635" rIns="635" bIns="635" anchor="t">
            <a:normAutofit/>
          </a:bodyPr>
          <a:lstStyle>
            <a:defPPr>
              <a:defRPr sz="1615" b="0"/>
            </a:defPPr>
          </a:lstStyle>
          <a:p>
            <a:pPr>
              <a:lnSpc>
                <a:spcPct val="150000"/>
              </a:lnSpc>
              <a:spcBef>
                <a:spcPts val="0"/>
              </a:spcBef>
              <a:spcAft>
                <a:spcPts val="5"/>
              </a:spcAft>
              <a:defRPr sz="1615" b="0"/>
            </a:pPr>
            <a:r>
              <a:rPr sz="1315" b="1">
                <a:solidFill>
                  <a:srgbClr val="1E2A47"/>
                </a:solidFill>
                <a:latin typeface="Calibri" panose="020F0502020204030204"/>
                <a:ea typeface="Calibri" panose="020F0502020204030204"/>
                <a:cs typeface="Calibri" panose="020F0502020204030204"/>
              </a:rPr>
              <a:t>PRIMARY</a:t>
            </a:r>
            <a:r>
              <a:rPr sz="1090" b="1">
                <a:solidFill>
                  <a:srgbClr val="5E6878"/>
                </a:solidFill>
                <a:latin typeface="微软雅黑" panose="020B0503020204020204" charset="-122"/>
                <a:ea typeface="微软雅黑" panose="020B0503020204020204" charset="-122"/>
                <a:cs typeface="微软雅黑" panose="020B0503020204020204" charset="-122"/>
              </a:rPr>
              <a:t> / 首选</a:t>
            </a:r>
            <a:endParaRPr sz="1090"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15" b="0"/>
            </a:pPr>
            <a:r>
              <a:rPr sz="1425" b="1">
                <a:solidFill>
                  <a:srgbClr val="1E2A47"/>
                </a:solidFill>
                <a:latin typeface="Calibri" panose="020F0502020204030204"/>
                <a:ea typeface="Calibri" panose="020F0502020204030204"/>
                <a:cs typeface="Calibri" panose="020F0502020204030204"/>
              </a:rPr>
              <a:t>ACM DIS 2027 · Pictorial</a:t>
            </a:r>
            <a:endParaRPr sz="1425"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b="0"/>
            </a:pPr>
            <a:r>
              <a:rPr sz="1275" b="0">
                <a:solidFill>
                  <a:srgbClr val="1E2A47"/>
                </a:solidFill>
                <a:latin typeface="Calibri" panose="020F0502020204030204"/>
                <a:ea typeface="Calibri" panose="020F0502020204030204"/>
                <a:cs typeface="Calibri" panose="020F0502020204030204"/>
              </a:rPr>
              <a:t>Abstract 11 Jan · Full submission 18 Jan 2027 (AoE)</a:t>
            </a:r>
            <a:endParaRPr sz="127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5"/>
              </a:spcAft>
              <a:defRPr sz="1615" b="0"/>
            </a:pPr>
            <a:r>
              <a:rPr sz="1065" b="0">
                <a:solidFill>
                  <a:srgbClr val="5E6878"/>
                </a:solidFill>
                <a:latin typeface="微软雅黑" panose="020B0503020204020204" charset="-122"/>
                <a:ea typeface="微软雅黑" panose="020B0503020204020204" charset="-122"/>
                <a:cs typeface="微软雅黑" panose="020B0503020204020204" charset="-122"/>
              </a:rPr>
              <a:t>摘要 1月11日 · 全文 1月18日（AoE）</a:t>
            </a:r>
            <a:endParaRPr sz="1065"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0"/>
              </a:spcAft>
              <a:defRPr sz="1615" b="0"/>
            </a:pPr>
            <a:r>
              <a:rPr sz="1215" b="0">
                <a:solidFill>
                  <a:srgbClr val="1E2A47"/>
                </a:solidFill>
                <a:latin typeface="Calibri" panose="020F0502020204030204"/>
                <a:ea typeface="Calibri" panose="020F0502020204030204"/>
                <a:cs typeface="Calibri" panose="020F0502020204030204"/>
              </a:rPr>
              <a:t>Review focus: an original, complete contribution communicated through images and diagrams.</a:t>
            </a:r>
            <a:endParaRPr sz="121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5"/>
              </a:spcAft>
              <a:defRPr sz="1615" b="0"/>
            </a:pPr>
            <a:r>
              <a:rPr sz="1030" b="0">
                <a:solidFill>
                  <a:srgbClr val="5E6878"/>
                </a:solidFill>
                <a:latin typeface="微软雅黑" panose="020B0503020204020204" charset="-122"/>
                <a:ea typeface="微软雅黑" panose="020B0503020204020204" charset="-122"/>
                <a:cs typeface="微软雅黑" panose="020B0503020204020204" charset="-122"/>
              </a:rPr>
              <a:t>评审重点：原创且完整的贡献，主要通过图像与图示传达设计知识。</a:t>
            </a:r>
            <a:endParaRPr sz="1030"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15" b="0"/>
            </a:pPr>
            <a:r>
              <a:rPr sz="1315" b="1">
                <a:solidFill>
                  <a:srgbClr val="1E2A47"/>
                </a:solidFill>
                <a:latin typeface="Calibri" panose="020F0502020204030204"/>
                <a:ea typeface="Calibri" panose="020F0502020204030204"/>
                <a:cs typeface="Calibri" panose="020F0502020204030204"/>
              </a:rPr>
              <a:t>BACKUP</a:t>
            </a:r>
            <a:r>
              <a:rPr sz="1090" b="1">
                <a:solidFill>
                  <a:srgbClr val="5E6878"/>
                </a:solidFill>
                <a:latin typeface="微软雅黑" panose="020B0503020204020204" charset="-122"/>
                <a:ea typeface="微软雅黑" panose="020B0503020204020204" charset="-122"/>
                <a:cs typeface="微软雅黑" panose="020B0503020204020204" charset="-122"/>
              </a:rPr>
              <a:t> / 备选</a:t>
            </a:r>
            <a:endParaRPr sz="1090" b="1">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615" b="0"/>
            </a:pPr>
            <a:r>
              <a:rPr sz="1290" b="1">
                <a:solidFill>
                  <a:srgbClr val="1E2A47"/>
                </a:solidFill>
                <a:latin typeface="Calibri" panose="020F0502020204030204"/>
                <a:ea typeface="Calibri" panose="020F0502020204030204"/>
                <a:cs typeface="Calibri" panose="020F0502020204030204"/>
              </a:rPr>
              <a:t>International Journal of Architectural Computing · Research Article</a:t>
            </a:r>
            <a:endParaRPr sz="1290" b="1">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b="0"/>
            </a:pPr>
            <a:r>
              <a:rPr sz="1215" b="0">
                <a:solidFill>
                  <a:srgbClr val="1E2A47"/>
                </a:solidFill>
                <a:latin typeface="Calibri" panose="020F0502020204030204"/>
                <a:ea typeface="Calibri" panose="020F0502020204030204"/>
                <a:cs typeface="Calibri" panose="020F0502020204030204"/>
              </a:rPr>
              <a:t>Rolling submission · double-anonymized review</a:t>
            </a:r>
            <a:endParaRPr sz="1215"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615" b="0"/>
            </a:pPr>
            <a:r>
              <a:rPr sz="1030" b="0">
                <a:solidFill>
                  <a:srgbClr val="5E6878"/>
                </a:solidFill>
                <a:latin typeface="微软雅黑" panose="020B0503020204020204" charset="-122"/>
                <a:ea typeface="微软雅黑" panose="020B0503020204020204" charset="-122"/>
                <a:cs typeface="微软雅黑" panose="020B0503020204020204" charset="-122"/>
              </a:rPr>
              <a:t>滚动投稿 · 双匿名评审</a:t>
            </a:r>
            <a:endParaRPr sz="1030"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4" name="side label"/>
          <p:cNvSpPr>
            <a:spLocks noGrp="1"/>
          </p:cNvSpPr>
          <p:nvPr/>
        </p:nvSpPr>
        <p:spPr>
          <a:xfrm>
            <a:off x="7863840" y="1508760"/>
            <a:ext cx="3520440" cy="411480"/>
          </a:xfrm>
          <a:prstGeom prst="rect">
            <a:avLst/>
          </a:prstGeom>
          <a:noFill/>
        </p:spPr>
        <p:txBody>
          <a:bodyPr lIns="0" tIns="0" rIns="0" bIns="0" anchor="ctr">
            <a:normAutofit/>
          </a:bodyPr>
          <a:lstStyle>
            <a:defPPr>
              <a:defRPr sz="1800" b="1"/>
            </a:defPPr>
          </a:lstStyle>
          <a:p>
            <a:pPr>
              <a:spcBef>
                <a:spcPts val="0"/>
              </a:spcBef>
              <a:spcAft>
                <a:spcPts val="0"/>
              </a:spcAft>
              <a:defRPr sz="1800" b="1"/>
            </a:pPr>
            <a:r>
              <a:rPr sz="1390" b="1">
                <a:solidFill>
                  <a:srgbClr val="16213E"/>
                </a:solidFill>
                <a:latin typeface="Cambria" panose="02040503050406030204"/>
                <a:ea typeface="Cambria" panose="02040503050406030204"/>
                <a:cs typeface="Cambria" panose="02040503050406030204"/>
              </a:rPr>
              <a:t>By 25 November</a:t>
            </a:r>
            <a:r>
              <a:rPr sz="1050" b="1">
                <a:solidFill>
                  <a:srgbClr val="16213E"/>
                </a:solidFill>
                <a:latin typeface="微软雅黑" panose="020B0503020204020204" charset="-122"/>
                <a:ea typeface="微软雅黑" panose="020B0503020204020204" charset="-122"/>
                <a:cs typeface="微软雅黑" panose="020B0503020204020204" charset="-122"/>
              </a:rPr>
              <a:t> / 11月25日前</a:t>
            </a:r>
            <a:endParaRPr sz="1050" b="1">
              <a:solidFill>
                <a:srgbClr val="16213E"/>
              </a:solidFill>
              <a:latin typeface="微软雅黑" panose="020B0503020204020204" charset="-122"/>
              <a:ea typeface="微软雅黑" panose="020B0503020204020204" charset="-122"/>
              <a:cs typeface="微软雅黑" panose="020B0503020204020204" charset="-122"/>
            </a:endParaRPr>
          </a:p>
        </p:txBody>
      </p:sp>
      <p:sp>
        <p:nvSpPr>
          <p:cNvPr id="5" name="Text 3"/>
          <p:cNvSpPr>
            <a:spLocks noGrp="1"/>
          </p:cNvSpPr>
          <p:nvPr>
            <p:ph type="body" idx="105" hasCustomPrompt="1"/>
          </p:nvPr>
        </p:nvSpPr>
        <p:spPr>
          <a:xfrm>
            <a:off x="7863840" y="2011680"/>
            <a:ext cx="3238500" cy="1457325"/>
          </a:xfrm>
          <a:prstGeom prst="rect">
            <a:avLst/>
          </a:prstGeom>
          <a:noFill/>
        </p:spPr>
        <p:txBody>
          <a:bodyPr lIns="635" tIns="635" rIns="635" bIns="635" anchor="t">
            <a:normAutofit lnSpcReduction="20000"/>
          </a:bodyPr>
          <a:lstStyle>
            <a:defPPr>
              <a:defRPr sz="1390"/>
            </a:defPPr>
          </a:lstStyle>
          <a:p>
            <a:pPr>
              <a:lnSpc>
                <a:spcPct val="150000"/>
              </a:lnSpc>
              <a:spcBef>
                <a:spcPts val="0"/>
              </a:spcBef>
              <a:spcAft>
                <a:spcPts val="5"/>
              </a:spcAft>
              <a:defRPr sz="1390"/>
            </a:pPr>
            <a:r>
              <a:rPr sz="1110" b="0">
                <a:solidFill>
                  <a:srgbClr val="1E2A47"/>
                </a:solidFill>
                <a:latin typeface="Calibri" panose="020F0502020204030204"/>
                <a:ea typeface="Calibri" panose="020F0502020204030204"/>
                <a:cs typeface="Calibri" panose="020F0502020204030204"/>
              </a:rPr>
              <a:t>One integrated fan with continuous rotating-diamond strips, adjustable frame thickness and anchored ends.</a:t>
            </a:r>
            <a:endParaRPr sz="111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10"/>
              </a:spcAft>
              <a:defRPr sz="1390"/>
            </a:pPr>
            <a:r>
              <a:rPr sz="945" b="0">
                <a:solidFill>
                  <a:srgbClr val="5E6878"/>
                </a:solidFill>
                <a:latin typeface="微软雅黑" panose="020B0503020204020204" charset="-122"/>
                <a:ea typeface="微软雅黑" panose="020B0503020204020204" charset="-122"/>
                <a:cs typeface="微软雅黑" panose="020B0503020204020204" charset="-122"/>
              </a:rPr>
              <a:t>完成一把整体成型的手持扇：旋转菱纹竹条连续、扇框厚度可调、两端锚定于扇框。</a:t>
            </a:r>
            <a:endParaRPr sz="945" b="0">
              <a:solidFill>
                <a:srgbClr val="5E6878"/>
              </a:solidFill>
              <a:latin typeface="微软雅黑" panose="020B0503020204020204" charset="-122"/>
              <a:ea typeface="微软雅黑" panose="020B0503020204020204" charset="-122"/>
              <a:cs typeface="微软雅黑" panose="020B0503020204020204" charset="-122"/>
            </a:endParaRPr>
          </a:p>
          <a:p>
            <a:pPr>
              <a:lnSpc>
                <a:spcPct val="150000"/>
              </a:lnSpc>
              <a:spcBef>
                <a:spcPts val="0"/>
              </a:spcBef>
              <a:spcAft>
                <a:spcPts val="5"/>
              </a:spcAft>
              <a:defRPr sz="1390"/>
            </a:pPr>
            <a:r>
              <a:rPr sz="1090" b="0">
                <a:solidFill>
                  <a:srgbClr val="1E2A47"/>
                </a:solidFill>
                <a:latin typeface="Calibri" panose="020F0502020204030204"/>
                <a:ea typeface="Calibri" panose="020F0502020204030204"/>
                <a:cs typeface="Calibri" panose="020F0502020204030204"/>
              </a:rPr>
              <a:t>Outputs: watertight STL, resin/FDM prototype and documented failure tests.</a:t>
            </a:r>
            <a:endParaRPr sz="1090" b="0">
              <a:solidFill>
                <a:srgbClr val="1E2A47"/>
              </a:solidFill>
              <a:latin typeface="Calibri" panose="020F0502020204030204"/>
              <a:ea typeface="Calibri" panose="020F0502020204030204"/>
              <a:cs typeface="Calibri" panose="020F0502020204030204"/>
            </a:endParaRPr>
          </a:p>
          <a:p>
            <a:pPr>
              <a:lnSpc>
                <a:spcPct val="150000"/>
              </a:lnSpc>
              <a:spcBef>
                <a:spcPts val="0"/>
              </a:spcBef>
              <a:spcAft>
                <a:spcPts val="0"/>
              </a:spcAft>
              <a:defRPr sz="1390"/>
            </a:pPr>
            <a:r>
              <a:rPr sz="945" b="0">
                <a:solidFill>
                  <a:srgbClr val="5E6878"/>
                </a:solidFill>
                <a:latin typeface="微软雅黑" panose="020B0503020204020204" charset="-122"/>
                <a:ea typeface="微软雅黑" panose="020B0503020204020204" charset="-122"/>
                <a:cs typeface="微软雅黑" panose="020B0503020204020204" charset="-122"/>
              </a:rPr>
              <a:t>成果包括封闭 STL、树脂或 FDM 原型，以及失败测试记录。</a:t>
            </a:r>
            <a:endParaRPr sz="945" b="0">
              <a:solidFill>
                <a:srgbClr val="5E6878"/>
              </a:solidFill>
              <a:latin typeface="微软雅黑" panose="020B0503020204020204" charset="-122"/>
              <a:ea typeface="微软雅黑" panose="020B0503020204020204" charset="-122"/>
              <a:cs typeface="微软雅黑" panose="020B0503020204020204" charset="-122"/>
            </a:endParaRPr>
          </a:p>
        </p:txBody>
      </p:sp>
      <p:sp>
        <p:nvSpPr>
          <p:cNvPr id="25" name="Slide Number Placeholder 0"/>
          <p:cNvSpPr>
            <a:spLocks noGrp="1"/>
          </p:cNvSpPr>
          <p:nvPr>
            <p:ph type="sldNum" idx="4294967295"/>
          </p:nvPr>
        </p:nvSpPr>
        <p:spPr>
          <a:xfrm>
            <a:off x="11155680" y="6400800"/>
            <a:ext cx="457200" cy="274320"/>
          </a:xfrm>
          <a:prstGeom prst="rect">
            <a:avLst/>
          </a:prstGeom>
        </p:spPr>
        <p:txBody>
          <a:bodyPr/>
          <a:lstStyle>
            <a:lvl1pPr>
              <a:buNone/>
              <a:defRPr sz="1000">
                <a:solidFill>
                  <a:schemeClr val="tx2"/>
                </a:solidFill>
              </a:defRPr>
            </a:lvl1pPr>
          </a:lstStyle>
          <a:p>
            <a:pPr algn="r">
              <a:buNone/>
            </a:pPr>
            <a:fld id="{F7021451-1387-4CA6-816F-3879F97B5CBC}" type="slidenum">
              <a:rPr b="0"/>
            </a:fld>
            <a:endParaRPr b="0"/>
          </a:p>
        </p:txBody>
      </p:sp>
      <p:pic>
        <p:nvPicPr>
          <p:cNvPr id="6" name="图片 5"/>
          <p:cNvPicPr>
            <a:picLocks noChangeAspect="1"/>
          </p:cNvPicPr>
          <p:nvPr/>
        </p:nvPicPr>
        <p:blipFill>
          <a:blip r:embed="rId1"/>
          <a:stretch>
            <a:fillRect/>
          </a:stretch>
        </p:blipFill>
        <p:spPr>
          <a:xfrm>
            <a:off x="8565515" y="3678555"/>
            <a:ext cx="2249805" cy="2355850"/>
          </a:xfrm>
          <a:prstGeom prst="rect">
            <a:avLst/>
          </a:prstGeom>
        </p:spPr>
      </p:pic>
    </p:spTree>
  </p:cSld>
  <p:clrMapOvr>
    <a:masterClrMapping/>
  </p:clrMapOvr>
</p:sld>
</file>

<file path=ppt/theme/theme1.xml><?xml version="1.0" encoding="utf-8"?>
<a:theme xmlns:a="http://schemas.openxmlformats.org/drawingml/2006/main" name="ARTD8105 Defence">
  <a:themeElements>
    <a:clrScheme name="ARTD8105 Defence">
      <a:dk1>
        <a:srgbClr val="16213E"/>
      </a:dk1>
      <a:lt1>
        <a:srgbClr val="FFFFFF"/>
      </a:lt1>
      <a:dk2>
        <a:srgbClr val="4E5D75"/>
      </a:dk2>
      <a:lt2>
        <a:srgbClr val="F2F3F5"/>
      </a:lt2>
      <a:accent1>
        <a:srgbClr val="E94F37"/>
      </a:accent1>
      <a:accent2>
        <a:srgbClr val="16213E"/>
      </a:accent2>
      <a:accent3>
        <a:srgbClr val="7A8CA3"/>
      </a:accent3>
      <a:accent4>
        <a:srgbClr val="E2E4E8"/>
      </a:accent4>
      <a:accent5>
        <a:srgbClr val="2F6F8F"/>
      </a:accent5>
      <a:accent6>
        <a:srgbClr val="F2B134"/>
      </a:accent6>
      <a:hlink>
        <a:srgbClr val="2F6F8F"/>
      </a:hlink>
      <a:folHlink>
        <a:srgbClr val="7A8CA3"/>
      </a:folHlink>
    </a:clrScheme>
    <a:fontScheme name="ARTD8105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RTD8105 Defen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RTD8105 Defence">
  <a:themeElements>
    <a:clrScheme name="ARTD8105 Defence">
      <a:dk1>
        <a:srgbClr val="16213E"/>
      </a:dk1>
      <a:lt1>
        <a:srgbClr val="FFFFFF"/>
      </a:lt1>
      <a:dk2>
        <a:srgbClr val="4E5D75"/>
      </a:dk2>
      <a:lt2>
        <a:srgbClr val="F2F3F5"/>
      </a:lt2>
      <a:accent1>
        <a:srgbClr val="E94F37"/>
      </a:accent1>
      <a:accent2>
        <a:srgbClr val="16213E"/>
      </a:accent2>
      <a:accent3>
        <a:srgbClr val="7A8CA3"/>
      </a:accent3>
      <a:accent4>
        <a:srgbClr val="E2E4E8"/>
      </a:accent4>
      <a:accent5>
        <a:srgbClr val="2F6F8F"/>
      </a:accent5>
      <a:accent6>
        <a:srgbClr val="F2B134"/>
      </a:accent6>
      <a:hlink>
        <a:srgbClr val="2F6F8F"/>
      </a:hlink>
      <a:folHlink>
        <a:srgbClr val="7A8CA3"/>
      </a:folHlink>
    </a:clrScheme>
    <a:fontScheme name="ARTD8105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RTD8105 Defen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3049</Words>
  <Application>WPS 演示</Application>
  <PresentationFormat>Converted Presentation</PresentationFormat>
  <Paragraphs>91</Paragraphs>
  <Slides>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5</vt:i4>
      </vt:variant>
    </vt:vector>
  </HeadingPairs>
  <TitlesOfParts>
    <vt:vector size="14" baseType="lpstr">
      <vt:lpstr>Arial</vt:lpstr>
      <vt:lpstr>宋体</vt:lpstr>
      <vt:lpstr>Wingdings</vt:lpstr>
      <vt:lpstr>Arial</vt:lpstr>
      <vt:lpstr>Cambria</vt:lpstr>
      <vt:lpstr>微软雅黑</vt:lpstr>
      <vt:lpstr>Calibri</vt:lpstr>
      <vt:lpstr>Arial Unicode MS</vt:lpstr>
      <vt:lpstr>ARTD8105 Defence</vt:lpstr>
      <vt:lpstr>海棠经纬</vt:lpstr>
      <vt:lpstr>The problem / 研究问题</vt:lpstr>
      <vt:lpstr>The gap / 研究缺口</vt:lpstr>
      <vt:lpstr>The contribution / 研究贡献</vt:lpstr>
      <vt:lpstr>Venue and artifact / 投稿与制作成果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HAITANG WEAVE LAB海棠经纬</dc:title>
  <dc:creator>Walnut Exporter</dc:creator>
  <cp:lastModifiedBy>QIAO黎©</cp:lastModifiedBy>
  <cp:revision>9</cp:revision>
  <dcterms:created xsi:type="dcterms:W3CDTF">2026-10-13T16:38:00Z</dcterms:created>
  <dcterms:modified xsi:type="dcterms:W3CDTF">2026-10-13T16:46:23Z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10CADC89B6D245BFB4CA3FD148FDAB9D_12</vt:lpwstr>
  </property>
  <property fmtid="{D5CDD505-2E9C-101B-9397-08002B2CF9AE}" pid="3" name="KSOProductBuildVer">
    <vt:lpwstr>2052-12.1.0.28505</vt:lpwstr>
  </property>
</Properties>
</file>